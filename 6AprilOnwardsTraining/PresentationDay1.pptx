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72" r:id="rId3"/>
  </p:sldMasterIdLst>
  <p:sldIdLst>
    <p:sldId id="257" r:id="rId4"/>
    <p:sldId id="259" r:id="rId5"/>
    <p:sldId id="261" r:id="rId6"/>
    <p:sldId id="263" r:id="rId7"/>
    <p:sldId id="265" r:id="rId8"/>
    <p:sldId id="267" r:id="rId9"/>
    <p:sldId id="269" r:id="rId10"/>
    <p:sldId id="282" r:id="rId11"/>
    <p:sldId id="271" r:id="rId12"/>
    <p:sldId id="273" r:id="rId13"/>
    <p:sldId id="275" r:id="rId14"/>
    <p:sldId id="277" r:id="rId15"/>
    <p:sldId id="279" r:id="rId16"/>
    <p:sldId id="28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58"/>
    <p:restoredTop sz="94669"/>
  </p:normalViewPr>
  <p:slideViewPr>
    <p:cSldViewPr snapToGrid="0">
      <p:cViewPr varScale="1">
        <p:scale>
          <a:sx n="82" d="100"/>
          <a:sy n="82" d="100"/>
        </p:scale>
        <p:origin x="192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D3253-BEAB-856A-2F88-AEFE3AE4DC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E804E2-F3CC-100A-8AB2-C8167F766D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4C44C-F46E-CBC3-9B7F-29871F032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D929A-5A69-1C42-AEEE-EF87AF1DFAE6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FAE8D-CE96-B3B7-25EB-77D74D46D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1341E-6CB5-75B3-9791-112515E18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0554-208F-0A4E-A3E5-82AE9755C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929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F19BB-A54D-4717-A3B1-6140E21E0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992EF-93A1-6BC4-CF20-F9E135A15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BCA3-8E04-EB3F-22F7-72DE7501D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D929A-5A69-1C42-AEEE-EF87AF1DFAE6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70E3A-D40E-143E-82EB-B3BCE0452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C9D0B-48D9-0169-2237-2273C46A1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0554-208F-0A4E-A3E5-82AE9755C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963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4F76F-E33C-705E-C0B8-7077580EF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55375A-1895-8E5F-6FA4-1AB406AD9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932EC-4483-13F1-341F-082009D9F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D929A-5A69-1C42-AEEE-EF87AF1DFAE6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9A3BEB-20BA-0C95-5D46-911C71C3F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0D4A2-97C1-FF90-4DF2-B19E4A724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0554-208F-0A4E-A3E5-82AE9755C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446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E7AC5-3AEF-9B3F-6D03-BAB6F434A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CFA99-EE99-3C0D-43B2-F7806EE0C9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FC4235-2F30-E96B-34B4-73A8FBCB6B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A24ECA-F3B3-1E31-3BD6-77C19F0B2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D929A-5A69-1C42-AEEE-EF87AF1DFAE6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827E45-69B7-5AC0-E840-68F375E68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2A61AF-DE8C-A583-FCB2-8742843DF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0554-208F-0A4E-A3E5-82AE9755C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100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E9368-D9D7-0234-4DFF-C02DB865F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050ED0-2DEF-65BD-C628-555E70F78E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0CFF57-ABE3-F315-8B3E-EB9098748C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729D3E-35A7-37D1-05AD-07051458CF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F8A08B-3D09-D60F-79D1-E0257AEE72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701BA3-4844-4F6D-1468-B4BCD037C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D929A-5A69-1C42-AEEE-EF87AF1DFAE6}" type="datetimeFigureOut">
              <a:rPr lang="en-US" smtClean="0"/>
              <a:t>4/2/26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39935A-EF41-66AC-740D-2933B08CE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0DF106-B4E7-73C8-5659-5EFAAB8C5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0554-208F-0A4E-A3E5-82AE9755C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54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E9C87-55FF-F8E3-FE24-B788049BF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C783C3-2929-5348-28B3-302B07D7B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D929A-5A69-1C42-AEEE-EF87AF1DFAE6}" type="datetimeFigureOut">
              <a:rPr lang="en-US" smtClean="0"/>
              <a:t>4/2/26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C267DE-DE40-706B-B551-D8F225E5E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739C82-2389-AC6B-42E4-1956262F4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0554-208F-0A4E-A3E5-82AE9755C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358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02E98B-BBB4-F6C7-6784-92215E4AC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D929A-5A69-1C42-AEEE-EF87AF1DFAE6}" type="datetimeFigureOut">
              <a:rPr lang="en-US" smtClean="0"/>
              <a:t>4/2/26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708071-F67E-8E87-D983-0E15939B7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9EC8AF-91D4-1187-7284-54E9A82FC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0554-208F-0A4E-A3E5-82AE9755C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539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B57F5-8A53-BFD7-C657-A78427E80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119CE-CE01-545B-44D5-5EDF4D588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D5D17D-1D12-633E-BB12-8A142FB386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39A1ED-CDF9-FBCF-558B-8849B4582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D929A-5A69-1C42-AEEE-EF87AF1DFAE6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155564-FC57-1344-CECF-0383469D6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32138B-554F-177E-84FE-30E0923E6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0554-208F-0A4E-A3E5-82AE9755C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065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30DBD-1060-12EE-74D6-A99E505FB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50533C-BB4E-8444-2471-12B3E2D267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5AF105-2F4C-96DC-88C2-D6C67ACE1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11D33C-1FE4-A567-3082-398BA33E2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D929A-5A69-1C42-AEEE-EF87AF1DFAE6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3A7DDF-F6C8-15DD-B215-CAC1A2E35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603527-F684-9186-515A-26B901AE7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0554-208F-0A4E-A3E5-82AE9755C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133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8CD04-4B7E-F747-2B0D-22CAA5250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323380-8785-83B1-2AEB-5C12AC073B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28CBD-5E7F-1917-E61E-943AAB0C8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D929A-5A69-1C42-AEEE-EF87AF1DFAE6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96B0F-E2B0-DB4F-1EB5-5EDB95833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0A1E1-B557-3A83-7493-47AA4BFFB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0554-208F-0A4E-A3E5-82AE9755C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764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007BBD-E27E-5110-278D-11909F5A59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0B89E6-6876-C330-7A59-FB9307725A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1754E-F563-8804-FF46-886A3D6D9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D929A-5A69-1C42-AEEE-EF87AF1DFAE6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8D0DC-5DA1-0645-0FE7-DB613179D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5ADFB-25A4-B889-5712-98F6C70EA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0554-208F-0A4E-A3E5-82AE9755C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0019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D3253-BEAB-856A-2F88-AEFE3AE4DC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E804E2-F3CC-100A-8AB2-C8167F766D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4C44C-F46E-CBC3-9B7F-29871F032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D929A-5A69-1C42-AEEE-EF87AF1DFAE6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FAE8D-CE96-B3B7-25EB-77D74D46D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1341E-6CB5-75B3-9791-112515E18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0554-208F-0A4E-A3E5-82AE9755C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929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F19BB-A54D-4717-A3B1-6140E21E0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992EF-93A1-6BC4-CF20-F9E135A15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BCA3-8E04-EB3F-22F7-72DE7501D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D929A-5A69-1C42-AEEE-EF87AF1DFAE6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70E3A-D40E-143E-82EB-B3BCE0452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C9D0B-48D9-0169-2237-2273C46A1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0554-208F-0A4E-A3E5-82AE9755C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9635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4F76F-E33C-705E-C0B8-7077580EF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55375A-1895-8E5F-6FA4-1AB406AD9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932EC-4483-13F1-341F-082009D9F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D929A-5A69-1C42-AEEE-EF87AF1DFAE6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9A3BEB-20BA-0C95-5D46-911C71C3F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0D4A2-97C1-FF90-4DF2-B19E4A724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0554-208F-0A4E-A3E5-82AE9755C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4469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E7AC5-3AEF-9B3F-6D03-BAB6F434A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CFA99-EE99-3C0D-43B2-F7806EE0C9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FC4235-2F30-E96B-34B4-73A8FBCB6B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A24ECA-F3B3-1E31-3BD6-77C19F0B2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D929A-5A69-1C42-AEEE-EF87AF1DFAE6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827E45-69B7-5AC0-E840-68F375E68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2A61AF-DE8C-A583-FCB2-8742843DF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0554-208F-0A4E-A3E5-82AE9755C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1002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E9368-D9D7-0234-4DFF-C02DB865F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050ED0-2DEF-65BD-C628-555E70F78E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0CFF57-ABE3-F315-8B3E-EB9098748C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729D3E-35A7-37D1-05AD-07051458CF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F8A08B-3D09-D60F-79D1-E0257AEE72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701BA3-4844-4F6D-1468-B4BCD037C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D929A-5A69-1C42-AEEE-EF87AF1DFAE6}" type="datetimeFigureOut">
              <a:rPr lang="en-US" smtClean="0"/>
              <a:t>4/2/26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39935A-EF41-66AC-740D-2933B08CE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0DF106-B4E7-73C8-5659-5EFAAB8C5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0554-208F-0A4E-A3E5-82AE9755C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549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E9C87-55FF-F8E3-FE24-B788049BF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C783C3-2929-5348-28B3-302B07D7B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D929A-5A69-1C42-AEEE-EF87AF1DFAE6}" type="datetimeFigureOut">
              <a:rPr lang="en-US" smtClean="0"/>
              <a:t>4/2/26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C267DE-DE40-706B-B551-D8F225E5E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739C82-2389-AC6B-42E4-1956262F4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0554-208F-0A4E-A3E5-82AE9755C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3582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02E98B-BBB4-F6C7-6784-92215E4AC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D929A-5A69-1C42-AEEE-EF87AF1DFAE6}" type="datetimeFigureOut">
              <a:rPr lang="en-US" smtClean="0"/>
              <a:t>4/2/26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708071-F67E-8E87-D983-0E15939B7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9EC8AF-91D4-1187-7284-54E9A82FC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0554-208F-0A4E-A3E5-82AE9755C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5395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B57F5-8A53-BFD7-C657-A78427E80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119CE-CE01-545B-44D5-5EDF4D588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D5D17D-1D12-633E-BB12-8A142FB386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39A1ED-CDF9-FBCF-558B-8849B4582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D929A-5A69-1C42-AEEE-EF87AF1DFAE6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155564-FC57-1344-CECF-0383469D6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32138B-554F-177E-84FE-30E0923E6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0554-208F-0A4E-A3E5-82AE9755C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0651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30DBD-1060-12EE-74D6-A99E505FB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50533C-BB4E-8444-2471-12B3E2D267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5AF105-2F4C-96DC-88C2-D6C67ACE1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11D33C-1FE4-A567-3082-398BA33E2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D929A-5A69-1C42-AEEE-EF87AF1DFAE6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3A7DDF-F6C8-15DD-B215-CAC1A2E35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603527-F684-9186-515A-26B901AE7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0554-208F-0A4E-A3E5-82AE9755C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1332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8CD04-4B7E-F747-2B0D-22CAA5250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323380-8785-83B1-2AEB-5C12AC073B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28CBD-5E7F-1917-E61E-943AAB0C8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D929A-5A69-1C42-AEEE-EF87AF1DFAE6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96B0F-E2B0-DB4F-1EB5-5EDB95833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0A1E1-B557-3A83-7493-47AA4BFFB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0554-208F-0A4E-A3E5-82AE9755C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7647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007BBD-E27E-5110-278D-11909F5A59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0B89E6-6876-C330-7A59-FB9307725A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1754E-F563-8804-FF46-886A3D6D9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D929A-5A69-1C42-AEEE-EF87AF1DFAE6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8D0DC-5DA1-0645-0FE7-DB613179D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5ADFB-25A4-B889-5712-98F6C70EA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0554-208F-0A4E-A3E5-82AE9755C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0019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D3253-BEAB-856A-2F88-AEFE3AE4DC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E804E2-F3CC-100A-8AB2-C8167F766D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4C44C-F46E-CBC3-9B7F-29871F032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D929A-5A69-1C42-AEEE-EF87AF1DFAE6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FAE8D-CE96-B3B7-25EB-77D74D46D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1341E-6CB5-75B3-9791-112515E18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0554-208F-0A4E-A3E5-82AE9755C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9291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F19BB-A54D-4717-A3B1-6140E21E0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992EF-93A1-6BC4-CF20-F9E135A15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BCA3-8E04-EB3F-22F7-72DE7501D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D929A-5A69-1C42-AEEE-EF87AF1DFAE6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70E3A-D40E-143E-82EB-B3BCE0452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C9D0B-48D9-0169-2237-2273C46A1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0554-208F-0A4E-A3E5-82AE9755C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9635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4F76F-E33C-705E-C0B8-7077580EF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55375A-1895-8E5F-6FA4-1AB406AD9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932EC-4483-13F1-341F-082009D9F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D929A-5A69-1C42-AEEE-EF87AF1DFAE6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9A3BEB-20BA-0C95-5D46-911C71C3F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0D4A2-97C1-FF90-4DF2-B19E4A724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0554-208F-0A4E-A3E5-82AE9755C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44696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E7AC5-3AEF-9B3F-6D03-BAB6F434A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CFA99-EE99-3C0D-43B2-F7806EE0C9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FC4235-2F30-E96B-34B4-73A8FBCB6B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A24ECA-F3B3-1E31-3BD6-77C19F0B2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D929A-5A69-1C42-AEEE-EF87AF1DFAE6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827E45-69B7-5AC0-E840-68F375E68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2A61AF-DE8C-A583-FCB2-8742843DF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0554-208F-0A4E-A3E5-82AE9755C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1002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E9368-D9D7-0234-4DFF-C02DB865F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050ED0-2DEF-65BD-C628-555E70F78E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0CFF57-ABE3-F315-8B3E-EB9098748C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729D3E-35A7-37D1-05AD-07051458CF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F8A08B-3D09-D60F-79D1-E0257AEE72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701BA3-4844-4F6D-1468-B4BCD037C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D929A-5A69-1C42-AEEE-EF87AF1DFAE6}" type="datetimeFigureOut">
              <a:rPr lang="en-US" smtClean="0"/>
              <a:t>4/2/26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39935A-EF41-66AC-740D-2933B08CE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0DF106-B4E7-73C8-5659-5EFAAB8C5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0554-208F-0A4E-A3E5-82AE9755C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5497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E9C87-55FF-F8E3-FE24-B788049BF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C783C3-2929-5348-28B3-302B07D7B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D929A-5A69-1C42-AEEE-EF87AF1DFAE6}" type="datetimeFigureOut">
              <a:rPr lang="en-US" smtClean="0"/>
              <a:t>4/2/26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C267DE-DE40-706B-B551-D8F225E5E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739C82-2389-AC6B-42E4-1956262F4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0554-208F-0A4E-A3E5-82AE9755C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35826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02E98B-BBB4-F6C7-6784-92215E4AC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D929A-5A69-1C42-AEEE-EF87AF1DFAE6}" type="datetimeFigureOut">
              <a:rPr lang="en-US" smtClean="0"/>
              <a:t>4/2/26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708071-F67E-8E87-D983-0E15939B7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9EC8AF-91D4-1187-7284-54E9A82FC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0554-208F-0A4E-A3E5-82AE9755C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53958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B57F5-8A53-BFD7-C657-A78427E80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119CE-CE01-545B-44D5-5EDF4D588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D5D17D-1D12-633E-BB12-8A142FB386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39A1ED-CDF9-FBCF-558B-8849B4582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D929A-5A69-1C42-AEEE-EF87AF1DFAE6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155564-FC57-1344-CECF-0383469D6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32138B-554F-177E-84FE-30E0923E6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0554-208F-0A4E-A3E5-82AE9755C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06510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30DBD-1060-12EE-74D6-A99E505FB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50533C-BB4E-8444-2471-12B3E2D267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5AF105-2F4C-96DC-88C2-D6C67ACE1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11D33C-1FE4-A567-3082-398BA33E2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D929A-5A69-1C42-AEEE-EF87AF1DFAE6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3A7DDF-F6C8-15DD-B215-CAC1A2E35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603527-F684-9186-515A-26B901AE7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0554-208F-0A4E-A3E5-82AE9755C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13328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8CD04-4B7E-F747-2B0D-22CAA5250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323380-8785-83B1-2AEB-5C12AC073B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28CBD-5E7F-1917-E61E-943AAB0C8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D929A-5A69-1C42-AEEE-EF87AF1DFAE6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96B0F-E2B0-DB4F-1EB5-5EDB95833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0A1E1-B557-3A83-7493-47AA4BFFB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0554-208F-0A4E-A3E5-82AE9755C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76471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007BBD-E27E-5110-278D-11909F5A59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0B89E6-6876-C330-7A59-FB9307725A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1754E-F563-8804-FF46-886A3D6D9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D929A-5A69-1C42-AEEE-EF87AF1DFAE6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8D0DC-5DA1-0645-0FE7-DB613179D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5ADFB-25A4-B889-5712-98F6C70EA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0554-208F-0A4E-A3E5-82AE9755C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001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36FE48-3A2F-41CB-6BF6-25577EF7F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2E0BD-2958-5368-999D-2E212AE78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97C2C-D994-2C26-9DE7-42E96316FB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8D929A-5A69-1C42-AEEE-EF87AF1DFAE6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FCBAE-F2EC-F601-B7BE-760B40BD6F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D38C1-2A72-CFF0-E85F-9CC5D40007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520554-208F-0A4E-A3E5-82AE9755C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844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D1117"/>
            </a:gs>
            <a:gs pos="100000">
              <a:srgbClr val="161B2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36FE48-3A2F-41CB-6BF6-25577EF7F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2E0BD-2958-5368-999D-2E212AE78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97C2C-D994-2C26-9DE7-42E96316FB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8D929A-5A69-1C42-AEEE-EF87AF1DFAE6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FCBAE-F2EC-F601-B7BE-760B40BD6F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D38C1-2A72-CFF0-E85F-9CC5D40007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520554-208F-0A4E-A3E5-82AE9755C45F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AccentBlock"/>
          <p:cNvSpPr/>
          <p:nvPr/>
        </p:nvSpPr>
        <p:spPr>
          <a:xfrm>
            <a:off x="0" y="6400000"/>
            <a:ext cx="3200000" cy="457200"/>
          </a:xfrm>
          <a:prstGeom prst="rect">
            <a:avLst/>
          </a:prstGeom>
          <a:solidFill>
            <a:srgbClr val="58A6FF">
              <a:alpha val="8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" name="TopAccentLine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gradFill>
            <a:gsLst>
              <a:gs pos="0">
                <a:srgbClr val="58A6FF"/>
              </a:gs>
              <a:gs pos="50000">
                <a:srgbClr val="BC8CFF"/>
              </a:gs>
              <a:gs pos="100000">
                <a:srgbClr val="3FB950"/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844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E8ECF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C9D1D9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C9D1D9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C9D1D9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9D1D9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9D1D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9D1D9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9D1D9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9D1D9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9D1D9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C9D1D9"/>
          </a:solidFill>
        </a:defRPr>
      </a:defPPr>
      <a:lvl1pPr marL="0" algn="l" defTabSz="914400" rtl="0" eaLnBrk="1" latinLnBrk="0" hangingPunct="1">
        <a:defRPr sz="1800" kern="1200">
          <a:solidFill>
            <a:srgbClr val="C9D1D9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C9D1D9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C9D1D9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C9D1D9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C9D1D9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C9D1D9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C9D1D9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C9D1D9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C9D1D9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36FE48-3A2F-41CB-6BF6-25577EF7F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2E0BD-2958-5368-999D-2E212AE78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97C2C-D994-2C26-9DE7-42E96316FB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8D929A-5A69-1C42-AEEE-EF87AF1DFAE6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FCBAE-F2EC-F601-B7BE-760B40BD6F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D38C1-2A72-CFF0-E85F-9CC5D40007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520554-208F-0A4E-A3E5-82AE9755C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844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BEF19-03CA-E88E-2E77-D7664D8476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/>
              <a:t>AI-Assisted Development
with GitHub Copilot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B4D188-5649-BAF4-316C-0449873AAA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/>
              <a:t>Enterprise Developer Training</a:t>
            </a:r>
          </a:p>
        </p:txBody>
      </p:sp>
    </p:spTree>
    <p:extLst>
      <p:ext uri="{BB962C8B-B14F-4D97-AF65-F5344CB8AC3E}">
        <p14:creationId xmlns:p14="http://schemas.microsoft.com/office/powerpoint/2010/main" val="1167058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975D4-25B4-59EB-3229-644F10AFF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Evolution of AI Development Tools</a:t>
            </a:r>
          </a:p>
        </p:txBody>
      </p:sp>
      <p:sp>
        <p:nvSpPr>
          <p:cNvPr id="50" name="TimelineLine"/>
          <p:cNvSpPr/>
          <p:nvPr/>
        </p:nvSpPr>
        <p:spPr>
          <a:xfrm>
            <a:off x="914400" y="3409550"/>
            <a:ext cx="7957200" cy="38100"/>
          </a:xfrm>
          <a:prstGeom prst="rect">
            <a:avLst/>
          </a:prstGeom>
          <a:solidFill>
            <a:srgbClr val="30363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Node0"/>
          <p:cNvSpPr/>
          <p:nvPr/>
        </p:nvSpPr>
        <p:spPr>
          <a:xfrm>
            <a:off x="914400" y="3308486"/>
            <a:ext cx="457200" cy="457200"/>
          </a:xfrm>
          <a:prstGeom prst="ellipse">
            <a:avLst/>
          </a:prstGeom>
          <a:solidFill>
            <a:srgbClr val="A0AEC0">
              <a:alpha val="20000"/>
            </a:srgbClr>
          </a:solidFill>
          <a:ln w="25400">
            <a:solidFill>
              <a:srgbClr val="A0AEC0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400" b="1" dirty="0">
                <a:solidFill>
                  <a:srgbClr val="A0AEC0"/>
                </a:solidFill>
              </a:rPr>
              <a:t>1990s</a:t>
            </a:r>
          </a:p>
        </p:txBody>
      </p:sp>
      <p:sp>
        <p:nvSpPr>
          <p:cNvPr id="52" name="Label0"/>
          <p:cNvSpPr/>
          <p:nvPr/>
        </p:nvSpPr>
        <p:spPr>
          <a:xfrm>
            <a:off x="614400" y="2700000"/>
            <a:ext cx="1057200" cy="400000"/>
          </a:xfrm>
          <a:prstGeom prst="rect">
            <a:avLst/>
          </a:prstGeom>
          <a:noFill/>
          <a:ln w="0">
            <a:noFill/>
          </a:ln>
        </p:spPr>
        <p:txBody>
          <a:bodyPr wrap="square" anchor="b" anchorCtr="0"/>
          <a:lstStyle/>
          <a:p>
            <a:pPr algn="ctr"/>
            <a:r>
              <a:rPr lang="en-US" sz="1600" b="1" dirty="0">
                <a:solidFill>
                  <a:srgbClr val="E8ECF0"/>
                </a:solidFill>
              </a:rPr>
              <a:t>Autocomplete</a:t>
            </a:r>
          </a:p>
        </p:txBody>
      </p:sp>
      <p:sp>
        <p:nvSpPr>
          <p:cNvPr id="53" name="Desc0"/>
          <p:cNvSpPr/>
          <p:nvPr/>
        </p:nvSpPr>
        <p:spPr>
          <a:xfrm>
            <a:off x="614400" y="3757200"/>
            <a:ext cx="1057200" cy="500000"/>
          </a:xfrm>
          <a:prstGeom prst="rect">
            <a:avLst/>
          </a:prstGeom>
          <a:noFill/>
          <a:ln w="0">
            <a:noFill/>
          </a:ln>
        </p:spPr>
        <p:txBody>
          <a:bodyPr wrap="square" anchor="t" anchorCtr="0"/>
          <a:lstStyle/>
          <a:p>
            <a:pPr algn="ctr"/>
            <a:r>
              <a:rPr lang="en-US" sz="1400" dirty="0">
                <a:solidFill>
                  <a:srgbClr val="A0AEC0"/>
                </a:solidFill>
              </a:rPr>
              <a:t>Basic keyword
completion</a:t>
            </a:r>
          </a:p>
        </p:txBody>
      </p:sp>
      <p:sp>
        <p:nvSpPr>
          <p:cNvPr id="55" name="Node1"/>
          <p:cNvSpPr/>
          <p:nvPr/>
        </p:nvSpPr>
        <p:spPr>
          <a:xfrm>
            <a:off x="3414400" y="3308487"/>
            <a:ext cx="457200" cy="457200"/>
          </a:xfrm>
          <a:prstGeom prst="ellipse">
            <a:avLst/>
          </a:prstGeom>
          <a:solidFill>
            <a:srgbClr val="79C0FF">
              <a:alpha val="20000"/>
            </a:srgbClr>
          </a:solidFill>
          <a:ln w="25400">
            <a:solidFill>
              <a:srgbClr val="79C0FF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400" b="1" dirty="0">
                <a:solidFill>
                  <a:srgbClr val="79C0FF"/>
                </a:solidFill>
              </a:rPr>
              <a:t>2010s</a:t>
            </a:r>
          </a:p>
        </p:txBody>
      </p:sp>
      <p:sp>
        <p:nvSpPr>
          <p:cNvPr id="56" name="Label1"/>
          <p:cNvSpPr/>
          <p:nvPr/>
        </p:nvSpPr>
        <p:spPr>
          <a:xfrm>
            <a:off x="3114400" y="2700000"/>
            <a:ext cx="1057200" cy="400000"/>
          </a:xfrm>
          <a:prstGeom prst="rect">
            <a:avLst/>
          </a:prstGeom>
          <a:noFill/>
          <a:ln w="0">
            <a:noFill/>
          </a:ln>
        </p:spPr>
        <p:txBody>
          <a:bodyPr wrap="square" anchor="b" anchorCtr="0"/>
          <a:lstStyle/>
          <a:p>
            <a:pPr algn="ctr"/>
            <a:r>
              <a:rPr lang="en-US" sz="1600" b="1" dirty="0">
                <a:solidFill>
                  <a:srgbClr val="E8ECF0"/>
                </a:solidFill>
              </a:rPr>
              <a:t>IntelliSense</a:t>
            </a:r>
          </a:p>
        </p:txBody>
      </p:sp>
      <p:sp>
        <p:nvSpPr>
          <p:cNvPr id="57" name="Desc1"/>
          <p:cNvSpPr/>
          <p:nvPr/>
        </p:nvSpPr>
        <p:spPr>
          <a:xfrm>
            <a:off x="3114400" y="3757200"/>
            <a:ext cx="1057200" cy="500000"/>
          </a:xfrm>
          <a:prstGeom prst="rect">
            <a:avLst/>
          </a:prstGeom>
          <a:noFill/>
          <a:ln w="0">
            <a:noFill/>
          </a:ln>
        </p:spPr>
        <p:txBody>
          <a:bodyPr wrap="square" anchor="t" anchorCtr="0"/>
          <a:lstStyle/>
          <a:p>
            <a:pPr algn="ctr"/>
            <a:r>
              <a:rPr lang="en-US" sz="1400" dirty="0">
                <a:solidFill>
                  <a:srgbClr val="A0AEC0"/>
                </a:solidFill>
              </a:rPr>
              <a:t>Context-aware
suggestions</a:t>
            </a:r>
          </a:p>
        </p:txBody>
      </p:sp>
      <p:sp>
        <p:nvSpPr>
          <p:cNvPr id="59" name="Node2"/>
          <p:cNvSpPr/>
          <p:nvPr/>
        </p:nvSpPr>
        <p:spPr>
          <a:xfrm>
            <a:off x="5914400" y="3308486"/>
            <a:ext cx="457200" cy="457200"/>
          </a:xfrm>
          <a:prstGeom prst="ellipse">
            <a:avLst/>
          </a:prstGeom>
          <a:solidFill>
            <a:srgbClr val="58A6FF">
              <a:alpha val="20000"/>
            </a:srgbClr>
          </a:solidFill>
          <a:ln w="25400">
            <a:solidFill>
              <a:srgbClr val="58A6FF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400" b="1" dirty="0">
                <a:solidFill>
                  <a:srgbClr val="58A6FF"/>
                </a:solidFill>
              </a:rPr>
              <a:t>2021</a:t>
            </a:r>
          </a:p>
        </p:txBody>
      </p:sp>
      <p:sp>
        <p:nvSpPr>
          <p:cNvPr id="60" name="Label2"/>
          <p:cNvSpPr/>
          <p:nvPr/>
        </p:nvSpPr>
        <p:spPr>
          <a:xfrm>
            <a:off x="5614400" y="2700000"/>
            <a:ext cx="1057200" cy="400000"/>
          </a:xfrm>
          <a:prstGeom prst="rect">
            <a:avLst/>
          </a:prstGeom>
          <a:noFill/>
          <a:ln w="0">
            <a:noFill/>
          </a:ln>
        </p:spPr>
        <p:txBody>
          <a:bodyPr wrap="square" anchor="b" anchorCtr="0"/>
          <a:lstStyle/>
          <a:p>
            <a:pPr algn="ctr"/>
            <a:r>
              <a:rPr lang="en-US" sz="1600" b="1" dirty="0">
                <a:solidFill>
                  <a:srgbClr val="E8ECF0"/>
                </a:solidFill>
              </a:rPr>
              <a:t>GitHub Copilot</a:t>
            </a:r>
          </a:p>
        </p:txBody>
      </p:sp>
      <p:sp>
        <p:nvSpPr>
          <p:cNvPr id="61" name="Desc2"/>
          <p:cNvSpPr/>
          <p:nvPr/>
        </p:nvSpPr>
        <p:spPr>
          <a:xfrm>
            <a:off x="5614400" y="3757200"/>
            <a:ext cx="1057200" cy="500000"/>
          </a:xfrm>
          <a:prstGeom prst="rect">
            <a:avLst/>
          </a:prstGeom>
          <a:noFill/>
          <a:ln w="0">
            <a:noFill/>
          </a:ln>
        </p:spPr>
        <p:txBody>
          <a:bodyPr wrap="square" anchor="t" anchorCtr="0"/>
          <a:lstStyle/>
          <a:p>
            <a:pPr algn="ctr"/>
            <a:r>
              <a:rPr lang="en-US" sz="1400" dirty="0">
                <a:solidFill>
                  <a:srgbClr val="A0AEC0"/>
                </a:solidFill>
              </a:rPr>
              <a:t>AI-powered code
generation</a:t>
            </a:r>
          </a:p>
        </p:txBody>
      </p:sp>
      <p:sp>
        <p:nvSpPr>
          <p:cNvPr id="63" name="Node3"/>
          <p:cNvSpPr/>
          <p:nvPr/>
        </p:nvSpPr>
        <p:spPr>
          <a:xfrm>
            <a:off x="8414400" y="3339485"/>
            <a:ext cx="457200" cy="457200"/>
          </a:xfrm>
          <a:prstGeom prst="ellipse">
            <a:avLst/>
          </a:prstGeom>
          <a:solidFill>
            <a:srgbClr val="BC8CFF">
              <a:alpha val="20000"/>
            </a:srgbClr>
          </a:solidFill>
          <a:ln w="25400">
            <a:solidFill>
              <a:srgbClr val="BC8CFF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400" b="1" dirty="0">
                <a:solidFill>
                  <a:srgbClr val="BC8CFF"/>
                </a:solidFill>
              </a:rPr>
              <a:t>2024+</a:t>
            </a:r>
          </a:p>
        </p:txBody>
      </p:sp>
      <p:sp>
        <p:nvSpPr>
          <p:cNvPr id="64" name="Label3"/>
          <p:cNvSpPr/>
          <p:nvPr/>
        </p:nvSpPr>
        <p:spPr>
          <a:xfrm>
            <a:off x="8114400" y="2700000"/>
            <a:ext cx="1057200" cy="400000"/>
          </a:xfrm>
          <a:prstGeom prst="rect">
            <a:avLst/>
          </a:prstGeom>
          <a:noFill/>
          <a:ln w="0">
            <a:noFill/>
          </a:ln>
        </p:spPr>
        <p:txBody>
          <a:bodyPr wrap="square" anchor="b" anchorCtr="0"/>
          <a:lstStyle/>
          <a:p>
            <a:pPr algn="ctr"/>
            <a:r>
              <a:rPr lang="en-US" sz="1600" b="1" dirty="0">
                <a:solidFill>
                  <a:srgbClr val="E8ECF0"/>
                </a:solidFill>
              </a:rPr>
              <a:t>AI Agents</a:t>
            </a:r>
          </a:p>
        </p:txBody>
      </p:sp>
      <p:sp>
        <p:nvSpPr>
          <p:cNvPr id="65" name="Desc3"/>
          <p:cNvSpPr/>
          <p:nvPr/>
        </p:nvSpPr>
        <p:spPr>
          <a:xfrm>
            <a:off x="8114400" y="3757200"/>
            <a:ext cx="1057200" cy="500000"/>
          </a:xfrm>
          <a:prstGeom prst="rect">
            <a:avLst/>
          </a:prstGeom>
          <a:noFill/>
          <a:ln w="0">
            <a:noFill/>
          </a:ln>
        </p:spPr>
        <p:txBody>
          <a:bodyPr wrap="square" anchor="t" anchorCtr="0"/>
          <a:lstStyle/>
          <a:p>
            <a:pPr algn="ctr"/>
            <a:r>
              <a:rPr lang="en-US" sz="1400" dirty="0">
                <a:solidFill>
                  <a:srgbClr val="A0AEC0"/>
                </a:solidFill>
              </a:rPr>
              <a:t>Autonomous
coding workflows</a:t>
            </a:r>
          </a:p>
        </p:txBody>
      </p:sp>
    </p:spTree>
    <p:extLst>
      <p:ext uri="{BB962C8B-B14F-4D97-AF65-F5344CB8AC3E}">
        <p14:creationId xmlns:p14="http://schemas.microsoft.com/office/powerpoint/2010/main" val="2913615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1A873D-6116-BD4C-88B0-242C82194BB4}"/>
              </a:ext>
            </a:extLst>
          </p:cNvPr>
          <p:cNvSpPr txBox="1"/>
          <p:nvPr/>
        </p:nvSpPr>
        <p:spPr>
          <a:xfrm>
            <a:off x="838200" y="381000"/>
            <a:ext cx="105156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/>
              <a:t>What is GitHub Copilot?</a:t>
            </a:r>
          </a:p>
        </p:txBody>
      </p:sp>
      <p:sp>
        <p:nvSpPr>
          <p:cNvPr id="10" name="Content"/>
          <p:cNvSpPr txBox="1"/>
          <p:nvPr/>
        </p:nvSpPr>
        <p:spPr>
          <a:xfrm>
            <a:off x="838200" y="1371600"/>
            <a:ext cx="10515600" cy="4572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342900" indent="-342900">
              <a:lnSpc>
                <a:spcPts val="2800"/>
              </a:lnSpc>
              <a:spcBef>
                <a:spcPts val="400"/>
              </a:spcBef>
              <a:buFont typeface="Arial"/>
              <a:buChar char="•"/>
            </a:pPr>
            <a:r>
              <a:rPr lang="en-US" sz="1800" dirty="0">
                <a:solidFill>
                  <a:srgbClr val="C9D1D9"/>
                </a:solidFill>
              </a:rPr>
              <a:t>AI-powered code completion tool developed by GitHub &amp; OpenAI</a:t>
            </a:r>
          </a:p>
          <a:p>
            <a:pPr marL="342900" indent="-342900">
              <a:lnSpc>
                <a:spcPts val="2800"/>
              </a:lnSpc>
              <a:spcBef>
                <a:spcPts val="400"/>
              </a:spcBef>
              <a:buFont typeface="Arial"/>
              <a:buChar char="•"/>
            </a:pPr>
            <a:r>
              <a:rPr lang="en-US" sz="1800" dirty="0">
                <a:solidFill>
                  <a:srgbClr val="C9D1D9"/>
                </a:solidFill>
              </a:rPr>
              <a:t>Acts as an AI pair programmer embedded directly in your IDE</a:t>
            </a:r>
          </a:p>
          <a:p>
            <a:pPr marL="342900" indent="-342900">
              <a:lnSpc>
                <a:spcPts val="2800"/>
              </a:lnSpc>
              <a:spcBef>
                <a:spcPts val="400"/>
              </a:spcBef>
              <a:buFont typeface="Arial"/>
              <a:buChar char="•"/>
            </a:pPr>
            <a:r>
              <a:rPr lang="en-US" sz="1800" dirty="0">
                <a:solidFill>
                  <a:srgbClr val="C9D1D9"/>
                </a:solidFill>
              </a:rPr>
              <a:t>Trained on billions of lines of publicly available code</a:t>
            </a:r>
          </a:p>
          <a:p>
            <a:pPr marL="342900" indent="-342900">
              <a:lnSpc>
                <a:spcPts val="2800"/>
              </a:lnSpc>
              <a:spcBef>
                <a:spcPts val="400"/>
              </a:spcBef>
              <a:buFont typeface="Arial"/>
              <a:buChar char="•"/>
            </a:pPr>
            <a:r>
              <a:rPr lang="en-US" sz="1800" dirty="0">
                <a:solidFill>
                  <a:srgbClr val="C9D1D9"/>
                </a:solidFill>
              </a:rPr>
              <a:t>Suggests whole lines, functions, tests, and documentation</a:t>
            </a:r>
          </a:p>
          <a:p>
            <a:pPr marL="342900" indent="-342900">
              <a:lnSpc>
                <a:spcPts val="2800"/>
              </a:lnSpc>
              <a:spcBef>
                <a:spcPts val="400"/>
              </a:spcBef>
              <a:buFont typeface="Arial"/>
              <a:buChar char="•"/>
            </a:pPr>
            <a:r>
              <a:rPr lang="en-US" sz="1800" dirty="0">
                <a:solidFill>
                  <a:srgbClr val="C9D1D9"/>
                </a:solidFill>
              </a:rPr>
              <a:t>Supports 30+ languages including Python, JavaScript, Java, C#</a:t>
            </a:r>
          </a:p>
        </p:txBody>
      </p:sp>
    </p:spTree>
    <p:extLst>
      <p:ext uri="{BB962C8B-B14F-4D97-AF65-F5344CB8AC3E}">
        <p14:creationId xmlns:p14="http://schemas.microsoft.com/office/powerpoint/2010/main" val="985934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517C7-3B8B-81DC-8911-E9F743742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Copilot Architecture</a:t>
            </a:r>
          </a:p>
        </p:txBody>
      </p:sp>
      <p:sp>
        <p:nvSpPr>
          <p:cNvPr id="20" name="Box0"/>
          <p:cNvSpPr/>
          <p:nvPr/>
        </p:nvSpPr>
        <p:spPr>
          <a:xfrm>
            <a:off x="457200" y="2590800"/>
            <a:ext cx="2286000" cy="1524000"/>
          </a:xfrm>
          <a:prstGeom prst="roundRect">
            <a:avLst>
              <a:gd name="adj" fmla="val 8000"/>
            </a:avLst>
          </a:prstGeom>
          <a:solidFill>
            <a:srgbClr val="58A6FF">
              <a:alpha val="12000"/>
            </a:srgbClr>
          </a:solidFill>
          <a:ln w="19050">
            <a:solidFill>
              <a:srgbClr val="58A6FF"/>
            </a:solidFill>
          </a:ln>
        </p:spPr>
        <p:txBody>
          <a:bodyPr wrap="square" lIns="91440" tIns="91440" rIns="91440" bIns="91440" anchor="ctr" anchorCtr="0"/>
          <a:lstStyle/>
          <a:p>
            <a:pPr algn="ctr">
              <a:spcAft>
                <a:spcPts val="400"/>
              </a:spcAft>
            </a:pPr>
            <a:r>
              <a:rPr lang="en-US" sz="1600" b="1" dirty="0">
                <a:solidFill>
                  <a:srgbClr val="58A6FF"/>
                </a:solidFill>
              </a:rPr>
              <a:t>Your IDE</a:t>
            </a:r>
          </a:p>
          <a:p>
            <a:pPr algn="ctr"/>
            <a:r>
              <a:rPr lang="en-US" sz="1400" dirty="0">
                <a:solidFill>
                  <a:srgbClr val="A0AEC0"/>
                </a:solidFill>
              </a:rPr>
              <a:t>VS Code / JetBrains
Neovim</a:t>
            </a:r>
          </a:p>
        </p:txBody>
      </p:sp>
      <p:sp>
        <p:nvSpPr>
          <p:cNvPr id="21" name="Arrow0"/>
          <p:cNvSpPr/>
          <p:nvPr/>
        </p:nvSpPr>
        <p:spPr>
          <a:xfrm>
            <a:off x="2819400" y="3276600"/>
            <a:ext cx="152400" cy="152400"/>
          </a:xfrm>
          <a:prstGeom prst="rightArrow">
            <a:avLst/>
          </a:prstGeom>
          <a:solidFill>
            <a:srgbClr val="30363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Box1"/>
          <p:cNvSpPr/>
          <p:nvPr/>
        </p:nvSpPr>
        <p:spPr>
          <a:xfrm>
            <a:off x="3048000" y="2590800"/>
            <a:ext cx="2286000" cy="1524000"/>
          </a:xfrm>
          <a:prstGeom prst="roundRect">
            <a:avLst>
              <a:gd name="adj" fmla="val 8000"/>
            </a:avLst>
          </a:prstGeom>
          <a:solidFill>
            <a:srgbClr val="3FB950">
              <a:alpha val="12000"/>
            </a:srgbClr>
          </a:solidFill>
          <a:ln w="19050">
            <a:solidFill>
              <a:srgbClr val="3FB950"/>
            </a:solidFill>
          </a:ln>
        </p:spPr>
        <p:txBody>
          <a:bodyPr wrap="square" lIns="91440" tIns="91440" rIns="91440" bIns="91440" anchor="ctr" anchorCtr="0"/>
          <a:lstStyle/>
          <a:p>
            <a:pPr algn="ctr">
              <a:spcAft>
                <a:spcPts val="400"/>
              </a:spcAft>
            </a:pPr>
            <a:r>
              <a:rPr lang="en-US" sz="1600" b="1" dirty="0">
                <a:solidFill>
                  <a:srgbClr val="3FB950"/>
                </a:solidFill>
              </a:rPr>
              <a:t>Copilot Extension</a:t>
            </a:r>
          </a:p>
          <a:p>
            <a:pPr algn="ctr"/>
            <a:r>
              <a:rPr lang="en-US" sz="1400" dirty="0">
                <a:solidFill>
                  <a:srgbClr val="A0AEC0"/>
                </a:solidFill>
              </a:rPr>
              <a:t>Context gathering
Code analysis</a:t>
            </a:r>
          </a:p>
        </p:txBody>
      </p:sp>
      <p:sp>
        <p:nvSpPr>
          <p:cNvPr id="24" name="Arrow1"/>
          <p:cNvSpPr/>
          <p:nvPr/>
        </p:nvSpPr>
        <p:spPr>
          <a:xfrm>
            <a:off x="5410200" y="3276600"/>
            <a:ext cx="152400" cy="152400"/>
          </a:xfrm>
          <a:prstGeom prst="rightArrow">
            <a:avLst/>
          </a:prstGeom>
          <a:solidFill>
            <a:srgbClr val="30363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Box2"/>
          <p:cNvSpPr/>
          <p:nvPr/>
        </p:nvSpPr>
        <p:spPr>
          <a:xfrm>
            <a:off x="5638800" y="2590800"/>
            <a:ext cx="2286000" cy="1524000"/>
          </a:xfrm>
          <a:prstGeom prst="roundRect">
            <a:avLst>
              <a:gd name="adj" fmla="val 8000"/>
            </a:avLst>
          </a:prstGeom>
          <a:solidFill>
            <a:srgbClr val="BC8CFF">
              <a:alpha val="12000"/>
            </a:srgbClr>
          </a:solidFill>
          <a:ln w="19050">
            <a:solidFill>
              <a:srgbClr val="BC8CFF"/>
            </a:solidFill>
          </a:ln>
        </p:spPr>
        <p:txBody>
          <a:bodyPr wrap="square" lIns="91440" tIns="91440" rIns="91440" bIns="91440" anchor="ctr" anchorCtr="0"/>
          <a:lstStyle/>
          <a:p>
            <a:pPr algn="ctr">
              <a:spcAft>
                <a:spcPts val="400"/>
              </a:spcAft>
            </a:pPr>
            <a:r>
              <a:rPr lang="en-US" sz="1600" b="1" dirty="0">
                <a:solidFill>
                  <a:srgbClr val="BC8CFF"/>
                </a:solidFill>
              </a:rPr>
              <a:t>Cloud API</a:t>
            </a:r>
          </a:p>
          <a:p>
            <a:pPr algn="ctr"/>
            <a:r>
              <a:rPr lang="en-US" sz="1400" dirty="0">
                <a:solidFill>
                  <a:srgbClr val="A0AEC0"/>
                </a:solidFill>
              </a:rPr>
              <a:t>Secure processing
Filtering</a:t>
            </a:r>
          </a:p>
        </p:txBody>
      </p:sp>
      <p:sp>
        <p:nvSpPr>
          <p:cNvPr id="27" name="Arrow2"/>
          <p:cNvSpPr/>
          <p:nvPr/>
        </p:nvSpPr>
        <p:spPr>
          <a:xfrm>
            <a:off x="8001000" y="3276600"/>
            <a:ext cx="152400" cy="152400"/>
          </a:xfrm>
          <a:prstGeom prst="rightArrow">
            <a:avLst/>
          </a:prstGeom>
          <a:solidFill>
            <a:srgbClr val="30363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Box3"/>
          <p:cNvSpPr/>
          <p:nvPr/>
        </p:nvSpPr>
        <p:spPr>
          <a:xfrm>
            <a:off x="8229600" y="2590800"/>
            <a:ext cx="2286000" cy="1524000"/>
          </a:xfrm>
          <a:prstGeom prst="roundRect">
            <a:avLst>
              <a:gd name="adj" fmla="val 8000"/>
            </a:avLst>
          </a:prstGeom>
          <a:solidFill>
            <a:srgbClr val="F78166">
              <a:alpha val="12000"/>
            </a:srgbClr>
          </a:solidFill>
          <a:ln w="19050">
            <a:solidFill>
              <a:srgbClr val="F78166"/>
            </a:solidFill>
          </a:ln>
        </p:spPr>
        <p:txBody>
          <a:bodyPr wrap="square" lIns="91440" tIns="91440" rIns="91440" bIns="91440" anchor="ctr" anchorCtr="0"/>
          <a:lstStyle/>
          <a:p>
            <a:pPr algn="ctr">
              <a:spcAft>
                <a:spcPts val="400"/>
              </a:spcAft>
            </a:pPr>
            <a:r>
              <a:rPr lang="en-US" sz="1600" b="1" dirty="0">
                <a:solidFill>
                  <a:srgbClr val="F78166"/>
                </a:solidFill>
              </a:rPr>
              <a:t>LLM Engine</a:t>
            </a:r>
          </a:p>
          <a:p>
            <a:pPr algn="ctr"/>
            <a:r>
              <a:rPr lang="en-US" sz="1400" dirty="0">
                <a:solidFill>
                  <a:srgbClr val="A0AEC0"/>
                </a:solidFill>
              </a:rPr>
              <a:t>GPT-4 / Codex
Code generation</a:t>
            </a:r>
          </a:p>
        </p:txBody>
      </p:sp>
      <p:sp>
        <p:nvSpPr>
          <p:cNvPr id="40" name="ReturnLabel"/>
          <p:cNvSpPr txBox="1"/>
          <p:nvPr/>
        </p:nvSpPr>
        <p:spPr>
          <a:xfrm>
            <a:off x="2743200" y="4419600"/>
            <a:ext cx="6705600" cy="381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1400" i="1" dirty="0">
                <a:solidFill>
                  <a:srgbClr val="58A6FF"/>
                </a:solidFill>
              </a:rPr>
              <a:t>← Code suggestions returned in real-time (typically &lt;500ms) →</a:t>
            </a:r>
          </a:p>
        </p:txBody>
      </p:sp>
    </p:spTree>
    <p:extLst>
      <p:ext uri="{BB962C8B-B14F-4D97-AF65-F5344CB8AC3E}">
        <p14:creationId xmlns:p14="http://schemas.microsoft.com/office/powerpoint/2010/main" val="2801776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855D9-4CEF-938B-928A-F2096F970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IDE Integration</a:t>
            </a:r>
          </a:p>
        </p:txBody>
      </p:sp>
      <p:sp>
        <p:nvSpPr>
          <p:cNvPr id="30" name="Card0"/>
          <p:cNvSpPr/>
          <p:nvPr/>
        </p:nvSpPr>
        <p:spPr>
          <a:xfrm>
            <a:off x="838800" y="1905000"/>
            <a:ext cx="3200000" cy="3429000"/>
          </a:xfrm>
          <a:prstGeom prst="roundRect">
            <a:avLst>
              <a:gd name="adj" fmla="val 5000"/>
            </a:avLst>
          </a:prstGeom>
          <a:solidFill>
            <a:srgbClr val="21262D"/>
          </a:solidFill>
          <a:ln w="12700">
            <a:solidFill>
              <a:srgbClr val="58A6FF">
                <a:alpha val="4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Icon0"/>
          <p:cNvSpPr/>
          <p:nvPr/>
        </p:nvSpPr>
        <p:spPr>
          <a:xfrm>
            <a:off x="2134000" y="1978620"/>
            <a:ext cx="609600" cy="609600"/>
          </a:xfrm>
          <a:prstGeom prst="ellipse">
            <a:avLst/>
          </a:prstGeom>
          <a:solidFill>
            <a:srgbClr val="58A6FF">
              <a:alpha val="20000"/>
            </a:srgbClr>
          </a:solidFill>
          <a:ln w="19050">
            <a:solidFill>
              <a:srgbClr val="58A6FF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2000" b="1" dirty="0">
                <a:solidFill>
                  <a:srgbClr val="58A6FF"/>
                </a:solidFill>
              </a:rPr>
              <a:t>VS</a:t>
            </a:r>
          </a:p>
        </p:txBody>
      </p:sp>
      <p:sp>
        <p:nvSpPr>
          <p:cNvPr id="32" name="Text0"/>
          <p:cNvSpPr txBox="1"/>
          <p:nvPr/>
        </p:nvSpPr>
        <p:spPr>
          <a:xfrm>
            <a:off x="991200" y="2514600"/>
            <a:ext cx="289520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600"/>
              </a:spcAft>
            </a:pPr>
            <a:r>
              <a:rPr lang="en-US" sz="1800" b="1" dirty="0">
                <a:solidFill>
                  <a:srgbClr val="58A6FF"/>
                </a:solidFill>
              </a:rPr>
              <a:t>VS Code</a:t>
            </a:r>
          </a:p>
          <a:p>
            <a:pPr algn="ctr">
              <a:lnSpc>
                <a:spcPts val="2400"/>
              </a:lnSpc>
            </a:pPr>
            <a:r>
              <a:rPr lang="en-US" sz="1400" dirty="0">
                <a:solidFill>
                  <a:srgbClr val="A0AEC0"/>
                </a:solidFill>
              </a:rPr>
              <a:t>Native extension
Inline suggestions
Chat sidebar
Deepest integration</a:t>
            </a:r>
          </a:p>
        </p:txBody>
      </p:sp>
      <p:sp>
        <p:nvSpPr>
          <p:cNvPr id="33" name="Card1"/>
          <p:cNvSpPr/>
          <p:nvPr/>
        </p:nvSpPr>
        <p:spPr>
          <a:xfrm>
            <a:off x="4496000" y="1905000"/>
            <a:ext cx="3200000" cy="3429000"/>
          </a:xfrm>
          <a:prstGeom prst="roundRect">
            <a:avLst>
              <a:gd name="adj" fmla="val 5000"/>
            </a:avLst>
          </a:prstGeom>
          <a:solidFill>
            <a:srgbClr val="21262D"/>
          </a:solidFill>
          <a:ln w="12700">
            <a:solidFill>
              <a:srgbClr val="3FB950">
                <a:alpha val="4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" name="Icon1"/>
          <p:cNvSpPr/>
          <p:nvPr/>
        </p:nvSpPr>
        <p:spPr>
          <a:xfrm>
            <a:off x="5791200" y="1978620"/>
            <a:ext cx="609600" cy="609600"/>
          </a:xfrm>
          <a:prstGeom prst="ellipse">
            <a:avLst/>
          </a:prstGeom>
          <a:solidFill>
            <a:srgbClr val="3FB950">
              <a:alpha val="20000"/>
            </a:srgbClr>
          </a:solidFill>
          <a:ln w="19050">
            <a:solidFill>
              <a:srgbClr val="3FB950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2000" b="1" dirty="0">
                <a:solidFill>
                  <a:srgbClr val="3FB950"/>
                </a:solidFill>
              </a:rPr>
              <a:t>JB</a:t>
            </a:r>
          </a:p>
        </p:txBody>
      </p:sp>
      <p:sp>
        <p:nvSpPr>
          <p:cNvPr id="35" name="Text1"/>
          <p:cNvSpPr txBox="1"/>
          <p:nvPr/>
        </p:nvSpPr>
        <p:spPr>
          <a:xfrm>
            <a:off x="4648400" y="2514600"/>
            <a:ext cx="289520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600"/>
              </a:spcAft>
            </a:pPr>
            <a:r>
              <a:rPr lang="en-US" sz="1800" b="1" dirty="0">
                <a:solidFill>
                  <a:srgbClr val="3FB950"/>
                </a:solidFill>
              </a:rPr>
              <a:t>JetBrains</a:t>
            </a:r>
          </a:p>
          <a:p>
            <a:pPr algn="ctr">
              <a:lnSpc>
                <a:spcPts val="2400"/>
              </a:lnSpc>
            </a:pPr>
            <a:r>
              <a:rPr lang="en-US" sz="1400" dirty="0">
                <a:solidFill>
                  <a:srgbClr val="A0AEC0"/>
                </a:solidFill>
              </a:rPr>
              <a:t>IntelliJ, PyCharm, etc.
Full plugin support
Code completions
Context-aware hints</a:t>
            </a:r>
          </a:p>
        </p:txBody>
      </p:sp>
      <p:sp>
        <p:nvSpPr>
          <p:cNvPr id="36" name="Card2"/>
          <p:cNvSpPr/>
          <p:nvPr/>
        </p:nvSpPr>
        <p:spPr>
          <a:xfrm>
            <a:off x="8153200" y="1905000"/>
            <a:ext cx="3200000" cy="3429000"/>
          </a:xfrm>
          <a:prstGeom prst="roundRect">
            <a:avLst>
              <a:gd name="adj" fmla="val 5000"/>
            </a:avLst>
          </a:prstGeom>
          <a:solidFill>
            <a:srgbClr val="21262D"/>
          </a:solidFill>
          <a:ln w="12700">
            <a:solidFill>
              <a:srgbClr val="BC8CFF">
                <a:alpha val="4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Icon2"/>
          <p:cNvSpPr/>
          <p:nvPr/>
        </p:nvSpPr>
        <p:spPr>
          <a:xfrm>
            <a:off x="9448400" y="1994118"/>
            <a:ext cx="609600" cy="609600"/>
          </a:xfrm>
          <a:prstGeom prst="ellipse">
            <a:avLst/>
          </a:prstGeom>
          <a:solidFill>
            <a:srgbClr val="BC8CFF">
              <a:alpha val="20000"/>
            </a:srgbClr>
          </a:solidFill>
          <a:ln w="19050">
            <a:solidFill>
              <a:srgbClr val="BC8CFF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2000" b="1" dirty="0">
                <a:solidFill>
                  <a:srgbClr val="BC8CFF"/>
                </a:solidFill>
              </a:rPr>
              <a:t>NV</a:t>
            </a:r>
          </a:p>
        </p:txBody>
      </p:sp>
      <p:sp>
        <p:nvSpPr>
          <p:cNvPr id="38" name="Text2"/>
          <p:cNvSpPr txBox="1"/>
          <p:nvPr/>
        </p:nvSpPr>
        <p:spPr>
          <a:xfrm>
            <a:off x="8305600" y="2514600"/>
            <a:ext cx="289520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600"/>
              </a:spcAft>
            </a:pPr>
            <a:r>
              <a:rPr lang="en-US" sz="1800" b="1" dirty="0">
                <a:solidFill>
                  <a:srgbClr val="BC8CFF"/>
                </a:solidFill>
              </a:rPr>
              <a:t>Neovim</a:t>
            </a:r>
          </a:p>
          <a:p>
            <a:pPr algn="ctr">
              <a:lnSpc>
                <a:spcPts val="2400"/>
              </a:lnSpc>
            </a:pPr>
            <a:r>
              <a:rPr lang="en-US" sz="1400" dirty="0">
                <a:solidFill>
                  <a:srgbClr val="A0AEC0"/>
                </a:solidFill>
              </a:rPr>
              <a:t>Lightweight plugin
Terminal-native
Tab completion
Minimal overhead</a:t>
            </a:r>
          </a:p>
        </p:txBody>
      </p:sp>
    </p:spTree>
    <p:extLst>
      <p:ext uri="{BB962C8B-B14F-4D97-AF65-F5344CB8AC3E}">
        <p14:creationId xmlns:p14="http://schemas.microsoft.com/office/powerpoint/2010/main" val="1870194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8A414-8E73-C16E-3E9E-9410D6E44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Role in Enterprise Developer Workflows</a:t>
            </a:r>
          </a:p>
        </p:txBody>
      </p:sp>
      <p:sp>
        <p:nvSpPr>
          <p:cNvPr id="40" name="WfCard0"/>
          <p:cNvSpPr/>
          <p:nvPr/>
        </p:nvSpPr>
        <p:spPr>
          <a:xfrm>
            <a:off x="647700" y="1981000"/>
            <a:ext cx="3429000" cy="1524000"/>
          </a:xfrm>
          <a:prstGeom prst="roundRect">
            <a:avLst>
              <a:gd name="adj" fmla="val 6000"/>
            </a:avLst>
          </a:prstGeom>
          <a:solidFill>
            <a:srgbClr val="21262D"/>
          </a:solidFill>
          <a:ln w="0">
            <a:noFill/>
          </a:ln>
        </p:spPr>
        <p:txBody>
          <a:bodyPr wrap="square" lIns="914400" tIns="91440" rIns="182880" bIns="91440" anchor="ctr"/>
          <a:lstStyle/>
          <a:p>
            <a:pPr>
              <a:spcAft>
                <a:spcPts val="200"/>
              </a:spcAft>
            </a:pPr>
            <a:r>
              <a:rPr lang="en-US" sz="1600" b="1" dirty="0">
                <a:solidFill>
                  <a:srgbClr val="E8ECF0"/>
                </a:solidFill>
              </a:rPr>
              <a:t>Code Generation</a:t>
            </a:r>
          </a:p>
          <a:p>
            <a:r>
              <a:rPr lang="en-US" sz="1400" dirty="0">
                <a:solidFill>
                  <a:srgbClr val="A0AEC0"/>
                </a:solidFill>
              </a:rPr>
              <a:t>Write boilerplate, functions,
and algorithms faster</a:t>
            </a:r>
          </a:p>
        </p:txBody>
      </p:sp>
      <p:sp>
        <p:nvSpPr>
          <p:cNvPr id="41" name="WfIcon0"/>
          <p:cNvSpPr/>
          <p:nvPr/>
        </p:nvSpPr>
        <p:spPr>
          <a:xfrm>
            <a:off x="876300" y="2133400"/>
            <a:ext cx="457200" cy="457200"/>
          </a:xfrm>
          <a:prstGeom prst="ellipse">
            <a:avLst/>
          </a:prstGeom>
          <a:solidFill>
            <a:srgbClr val="58A6FF">
              <a:alpha val="18000"/>
            </a:srgbClr>
          </a:solidFill>
          <a:ln w="0"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600" b="1" dirty="0">
                <a:solidFill>
                  <a:srgbClr val="58A6FF"/>
                </a:solidFill>
              </a:rPr>
              <a:t>&lt;/&gt;</a:t>
            </a:r>
          </a:p>
        </p:txBody>
      </p:sp>
      <p:sp>
        <p:nvSpPr>
          <p:cNvPr id="42" name="WfCard1"/>
          <p:cNvSpPr/>
          <p:nvPr/>
        </p:nvSpPr>
        <p:spPr>
          <a:xfrm>
            <a:off x="4381500" y="1981000"/>
            <a:ext cx="3429000" cy="1524000"/>
          </a:xfrm>
          <a:prstGeom prst="roundRect">
            <a:avLst>
              <a:gd name="adj" fmla="val 6000"/>
            </a:avLst>
          </a:prstGeom>
          <a:solidFill>
            <a:srgbClr val="21262D"/>
          </a:solidFill>
          <a:ln w="0">
            <a:noFill/>
          </a:ln>
        </p:spPr>
        <p:txBody>
          <a:bodyPr wrap="square" lIns="914400" tIns="91440" rIns="182880" bIns="91440" anchor="ctr"/>
          <a:lstStyle/>
          <a:p>
            <a:pPr>
              <a:spcAft>
                <a:spcPts val="200"/>
              </a:spcAft>
            </a:pPr>
            <a:r>
              <a:rPr lang="en-US" sz="1600" b="1" dirty="0">
                <a:solidFill>
                  <a:srgbClr val="E8ECF0"/>
                </a:solidFill>
              </a:rPr>
              <a:t>Code Review</a:t>
            </a:r>
          </a:p>
          <a:p>
            <a:r>
              <a:rPr lang="en-US" sz="1400" dirty="0">
                <a:solidFill>
                  <a:srgbClr val="A0AEC0"/>
                </a:solidFill>
              </a:rPr>
              <a:t>Explain code, find bugs,
and suggest improvements</a:t>
            </a:r>
          </a:p>
        </p:txBody>
      </p:sp>
      <p:sp>
        <p:nvSpPr>
          <p:cNvPr id="43" name="WfIcon1"/>
          <p:cNvSpPr/>
          <p:nvPr/>
        </p:nvSpPr>
        <p:spPr>
          <a:xfrm>
            <a:off x="4610100" y="2133400"/>
            <a:ext cx="457200" cy="457200"/>
          </a:xfrm>
          <a:prstGeom prst="ellipse">
            <a:avLst/>
          </a:prstGeom>
          <a:solidFill>
            <a:srgbClr val="3FB950">
              <a:alpha val="18000"/>
            </a:srgbClr>
          </a:solidFill>
          <a:ln w="0"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600" b="1" dirty="0">
                <a:solidFill>
                  <a:srgbClr val="3FB950"/>
                </a:solidFill>
              </a:rPr>
              <a:t>CR</a:t>
            </a:r>
          </a:p>
        </p:txBody>
      </p:sp>
      <p:sp>
        <p:nvSpPr>
          <p:cNvPr id="44" name="WfCard2"/>
          <p:cNvSpPr/>
          <p:nvPr/>
        </p:nvSpPr>
        <p:spPr>
          <a:xfrm>
            <a:off x="8115300" y="1981000"/>
            <a:ext cx="3429000" cy="1524000"/>
          </a:xfrm>
          <a:prstGeom prst="roundRect">
            <a:avLst>
              <a:gd name="adj" fmla="val 6000"/>
            </a:avLst>
          </a:prstGeom>
          <a:solidFill>
            <a:srgbClr val="21262D"/>
          </a:solidFill>
          <a:ln w="0">
            <a:noFill/>
          </a:ln>
        </p:spPr>
        <p:txBody>
          <a:bodyPr wrap="square" lIns="914400" tIns="91440" rIns="182880" bIns="91440" anchor="ctr"/>
          <a:lstStyle/>
          <a:p>
            <a:pPr>
              <a:spcAft>
                <a:spcPts val="200"/>
              </a:spcAft>
            </a:pPr>
            <a:r>
              <a:rPr lang="en-US" sz="1600" b="1" dirty="0">
                <a:solidFill>
                  <a:srgbClr val="E8ECF0"/>
                </a:solidFill>
              </a:rPr>
              <a:t>Documentation</a:t>
            </a:r>
          </a:p>
          <a:p>
            <a:r>
              <a:rPr lang="en-US" sz="1400" dirty="0">
                <a:solidFill>
                  <a:srgbClr val="A0AEC0"/>
                </a:solidFill>
              </a:rPr>
              <a:t>Auto-generate docstrings,
READMEs, and comments</a:t>
            </a:r>
          </a:p>
        </p:txBody>
      </p:sp>
      <p:sp>
        <p:nvSpPr>
          <p:cNvPr id="45" name="WfIcon2"/>
          <p:cNvSpPr/>
          <p:nvPr/>
        </p:nvSpPr>
        <p:spPr>
          <a:xfrm>
            <a:off x="8343900" y="2133400"/>
            <a:ext cx="457200" cy="457200"/>
          </a:xfrm>
          <a:prstGeom prst="ellipse">
            <a:avLst/>
          </a:prstGeom>
          <a:solidFill>
            <a:srgbClr val="BC8CFF">
              <a:alpha val="18000"/>
            </a:srgbClr>
          </a:solidFill>
          <a:ln w="0"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600" b="1" dirty="0">
                <a:solidFill>
                  <a:srgbClr val="BC8CFF"/>
                </a:solidFill>
              </a:rPr>
              <a:t>D</a:t>
            </a:r>
          </a:p>
        </p:txBody>
      </p:sp>
      <p:sp>
        <p:nvSpPr>
          <p:cNvPr id="46" name="WfCard3"/>
          <p:cNvSpPr/>
          <p:nvPr/>
        </p:nvSpPr>
        <p:spPr>
          <a:xfrm>
            <a:off x="647700" y="3428800"/>
            <a:ext cx="3429000" cy="1524000"/>
          </a:xfrm>
          <a:prstGeom prst="roundRect">
            <a:avLst>
              <a:gd name="adj" fmla="val 6000"/>
            </a:avLst>
          </a:prstGeom>
          <a:solidFill>
            <a:srgbClr val="21262D"/>
          </a:solidFill>
          <a:ln w="0">
            <a:noFill/>
          </a:ln>
        </p:spPr>
        <p:txBody>
          <a:bodyPr wrap="square" lIns="914400" tIns="91440" rIns="182880" bIns="91440" anchor="ctr"/>
          <a:lstStyle/>
          <a:p>
            <a:pPr>
              <a:spcAft>
                <a:spcPts val="200"/>
              </a:spcAft>
            </a:pPr>
            <a:r>
              <a:rPr lang="en-US" sz="1600" b="1" dirty="0">
                <a:solidFill>
                  <a:srgbClr val="E8ECF0"/>
                </a:solidFill>
              </a:rPr>
              <a:t>Unit Testing</a:t>
            </a:r>
          </a:p>
          <a:p>
            <a:r>
              <a:rPr lang="en-US" sz="1400" dirty="0">
                <a:solidFill>
                  <a:srgbClr val="A0AEC0"/>
                </a:solidFill>
              </a:rPr>
              <a:t>Generate test cases and
assertions automatically</a:t>
            </a:r>
          </a:p>
        </p:txBody>
      </p:sp>
      <p:sp>
        <p:nvSpPr>
          <p:cNvPr id="47" name="WfIcon3"/>
          <p:cNvSpPr/>
          <p:nvPr/>
        </p:nvSpPr>
        <p:spPr>
          <a:xfrm>
            <a:off x="876300" y="3962200"/>
            <a:ext cx="457200" cy="457200"/>
          </a:xfrm>
          <a:prstGeom prst="ellipse">
            <a:avLst/>
          </a:prstGeom>
          <a:solidFill>
            <a:srgbClr val="F78166">
              <a:alpha val="18000"/>
            </a:srgbClr>
          </a:solidFill>
          <a:ln w="0"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600" b="1" dirty="0">
                <a:solidFill>
                  <a:srgbClr val="F78166"/>
                </a:solidFill>
              </a:rPr>
              <a:t>T</a:t>
            </a:r>
          </a:p>
        </p:txBody>
      </p:sp>
      <p:sp>
        <p:nvSpPr>
          <p:cNvPr id="48" name="WfCard4"/>
          <p:cNvSpPr/>
          <p:nvPr/>
        </p:nvSpPr>
        <p:spPr>
          <a:xfrm>
            <a:off x="4381500" y="3428800"/>
            <a:ext cx="3429000" cy="1524000"/>
          </a:xfrm>
          <a:prstGeom prst="roundRect">
            <a:avLst>
              <a:gd name="adj" fmla="val 6000"/>
            </a:avLst>
          </a:prstGeom>
          <a:solidFill>
            <a:srgbClr val="21262D"/>
          </a:solidFill>
          <a:ln w="0">
            <a:noFill/>
          </a:ln>
        </p:spPr>
        <p:txBody>
          <a:bodyPr wrap="square" lIns="914400" tIns="91440" rIns="182880" bIns="91440" anchor="ctr"/>
          <a:lstStyle/>
          <a:p>
            <a:pPr>
              <a:spcAft>
                <a:spcPts val="200"/>
              </a:spcAft>
            </a:pPr>
            <a:r>
              <a:rPr lang="en-US" sz="1600" b="1" dirty="0">
                <a:solidFill>
                  <a:srgbClr val="E8ECF0"/>
                </a:solidFill>
              </a:rPr>
              <a:t>Refactoring</a:t>
            </a:r>
          </a:p>
          <a:p>
            <a:r>
              <a:rPr lang="en-US" sz="1400" dirty="0">
                <a:solidFill>
                  <a:srgbClr val="A0AEC0"/>
                </a:solidFill>
              </a:rPr>
              <a:t>Improve code structure
and reduce complexity</a:t>
            </a:r>
          </a:p>
        </p:txBody>
      </p:sp>
      <p:sp>
        <p:nvSpPr>
          <p:cNvPr id="49" name="WfIcon4"/>
          <p:cNvSpPr/>
          <p:nvPr/>
        </p:nvSpPr>
        <p:spPr>
          <a:xfrm>
            <a:off x="4610100" y="3962200"/>
            <a:ext cx="457200" cy="457200"/>
          </a:xfrm>
          <a:prstGeom prst="ellipse">
            <a:avLst/>
          </a:prstGeom>
          <a:solidFill>
            <a:srgbClr val="79C0FF">
              <a:alpha val="18000"/>
            </a:srgbClr>
          </a:solidFill>
          <a:ln w="0"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600" b="1" dirty="0">
                <a:solidFill>
                  <a:srgbClr val="79C0FF"/>
                </a:solidFill>
              </a:rPr>
              <a:t>R</a:t>
            </a:r>
          </a:p>
        </p:txBody>
      </p:sp>
      <p:sp>
        <p:nvSpPr>
          <p:cNvPr id="50" name="WfCard5"/>
          <p:cNvSpPr/>
          <p:nvPr/>
        </p:nvSpPr>
        <p:spPr>
          <a:xfrm>
            <a:off x="8115300" y="3428800"/>
            <a:ext cx="3429000" cy="1524000"/>
          </a:xfrm>
          <a:prstGeom prst="roundRect">
            <a:avLst>
              <a:gd name="adj" fmla="val 6000"/>
            </a:avLst>
          </a:prstGeom>
          <a:solidFill>
            <a:srgbClr val="21262D"/>
          </a:solidFill>
          <a:ln w="0">
            <a:noFill/>
          </a:ln>
        </p:spPr>
        <p:txBody>
          <a:bodyPr wrap="square" lIns="914400" tIns="91440" rIns="182880" bIns="91440" anchor="ctr"/>
          <a:lstStyle/>
          <a:p>
            <a:pPr>
              <a:spcAft>
                <a:spcPts val="200"/>
              </a:spcAft>
            </a:pPr>
            <a:r>
              <a:rPr lang="en-US" sz="1600" b="1" dirty="0">
                <a:solidFill>
                  <a:srgbClr val="E8ECF0"/>
                </a:solidFill>
              </a:rPr>
              <a:t>Learning</a:t>
            </a:r>
          </a:p>
          <a:p>
            <a:r>
              <a:rPr lang="en-US" sz="1400" dirty="0">
                <a:solidFill>
                  <a:srgbClr val="A0AEC0"/>
                </a:solidFill>
              </a:rPr>
              <a:t>Understand unfamiliar
codebases and patterns</a:t>
            </a:r>
          </a:p>
        </p:txBody>
      </p:sp>
      <p:sp>
        <p:nvSpPr>
          <p:cNvPr id="51" name="WfIcon5"/>
          <p:cNvSpPr/>
          <p:nvPr/>
        </p:nvSpPr>
        <p:spPr>
          <a:xfrm>
            <a:off x="8343900" y="3962200"/>
            <a:ext cx="457200" cy="457200"/>
          </a:xfrm>
          <a:prstGeom prst="ellipse">
            <a:avLst/>
          </a:prstGeom>
          <a:solidFill>
            <a:srgbClr val="D2A8FF">
              <a:alpha val="18000"/>
            </a:srgbClr>
          </a:solidFill>
          <a:ln w="0"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600" b="1" dirty="0">
                <a:solidFill>
                  <a:srgbClr val="D2A8FF"/>
                </a:solidFill>
              </a:rPr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1360486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1C48F-EB63-F168-0E11-67D990076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Productivity Impact</a:t>
            </a:r>
          </a:p>
        </p:txBody>
      </p:sp>
      <p:sp>
        <p:nvSpPr>
          <p:cNvPr id="60" name="StatCard0"/>
          <p:cNvSpPr/>
          <p:nvPr/>
        </p:nvSpPr>
        <p:spPr>
          <a:xfrm>
            <a:off x="762000" y="2209800"/>
            <a:ext cx="2438400" cy="2286000"/>
          </a:xfrm>
          <a:prstGeom prst="roundRect">
            <a:avLst>
              <a:gd name="adj" fmla="val 6000"/>
            </a:avLst>
          </a:prstGeom>
          <a:solidFill>
            <a:srgbClr val="21262D"/>
          </a:solidFill>
          <a:ln w="0">
            <a:noFill/>
          </a:ln>
        </p:spPr>
        <p:txBody>
          <a:bodyPr wrap="square" lIns="182880" tIns="182880" rIns="182880" bIns="182880" anchor="ctr" anchorCtr="0"/>
          <a:lstStyle/>
          <a:p>
            <a:pPr algn="ctr">
              <a:spcAft>
                <a:spcPts val="400"/>
              </a:spcAft>
            </a:pPr>
            <a:r>
              <a:rPr lang="en-US" sz="4000" b="1" dirty="0">
                <a:solidFill>
                  <a:srgbClr val="58A6FF"/>
                </a:solidFill>
              </a:rPr>
              <a:t>55%</a:t>
            </a:r>
          </a:p>
          <a:p>
            <a:pPr algn="ctr">
              <a:lnSpc>
                <a:spcPts val="1800"/>
              </a:lnSpc>
            </a:pPr>
            <a:r>
              <a:rPr lang="en-US" sz="1400" dirty="0">
                <a:solidFill>
                  <a:srgbClr val="A0AEC0"/>
                </a:solidFill>
              </a:rPr>
              <a:t>Faster Task
Completion</a:t>
            </a:r>
          </a:p>
        </p:txBody>
      </p:sp>
      <p:sp>
        <p:nvSpPr>
          <p:cNvPr id="62" name="StatCard1"/>
          <p:cNvSpPr/>
          <p:nvPr/>
        </p:nvSpPr>
        <p:spPr>
          <a:xfrm>
            <a:off x="3505200" y="2209800"/>
            <a:ext cx="2438400" cy="2286000"/>
          </a:xfrm>
          <a:prstGeom prst="roundRect">
            <a:avLst>
              <a:gd name="adj" fmla="val 6000"/>
            </a:avLst>
          </a:prstGeom>
          <a:solidFill>
            <a:srgbClr val="21262D"/>
          </a:solidFill>
          <a:ln w="0">
            <a:noFill/>
          </a:ln>
        </p:spPr>
        <p:txBody>
          <a:bodyPr wrap="square" lIns="182880" tIns="182880" rIns="182880" bIns="182880" anchor="ctr" anchorCtr="0"/>
          <a:lstStyle/>
          <a:p>
            <a:pPr algn="ctr">
              <a:spcAft>
                <a:spcPts val="400"/>
              </a:spcAft>
            </a:pPr>
            <a:r>
              <a:rPr lang="en-US" sz="4000" b="1" dirty="0">
                <a:solidFill>
                  <a:srgbClr val="3FB950"/>
                </a:solidFill>
              </a:rPr>
              <a:t>46%</a:t>
            </a:r>
          </a:p>
          <a:p>
            <a:pPr algn="ctr">
              <a:lnSpc>
                <a:spcPts val="1800"/>
              </a:lnSpc>
            </a:pPr>
            <a:r>
              <a:rPr lang="en-US" sz="1400" dirty="0">
                <a:solidFill>
                  <a:srgbClr val="A0AEC0"/>
                </a:solidFill>
              </a:rPr>
              <a:t>More Code Written
With Copilot</a:t>
            </a:r>
          </a:p>
        </p:txBody>
      </p:sp>
      <p:sp>
        <p:nvSpPr>
          <p:cNvPr id="64" name="StatCard2"/>
          <p:cNvSpPr/>
          <p:nvPr/>
        </p:nvSpPr>
        <p:spPr>
          <a:xfrm>
            <a:off x="6248400" y="2209800"/>
            <a:ext cx="2438400" cy="2286000"/>
          </a:xfrm>
          <a:prstGeom prst="roundRect">
            <a:avLst>
              <a:gd name="adj" fmla="val 6000"/>
            </a:avLst>
          </a:prstGeom>
          <a:solidFill>
            <a:srgbClr val="21262D"/>
          </a:solidFill>
          <a:ln w="0">
            <a:noFill/>
          </a:ln>
        </p:spPr>
        <p:txBody>
          <a:bodyPr wrap="square" lIns="182880" tIns="182880" rIns="182880" bIns="182880" anchor="ctr" anchorCtr="0"/>
          <a:lstStyle/>
          <a:p>
            <a:pPr algn="ctr">
              <a:spcAft>
                <a:spcPts val="400"/>
              </a:spcAft>
            </a:pPr>
            <a:r>
              <a:rPr lang="en-US" sz="4000" b="1" dirty="0">
                <a:solidFill>
                  <a:srgbClr val="BC8CFF"/>
                </a:solidFill>
              </a:rPr>
              <a:t>74%</a:t>
            </a:r>
          </a:p>
          <a:p>
            <a:pPr algn="ctr">
              <a:lnSpc>
                <a:spcPts val="1800"/>
              </a:lnSpc>
            </a:pPr>
            <a:r>
              <a:rPr lang="en-US" sz="1400" dirty="0">
                <a:solidFill>
                  <a:srgbClr val="A0AEC0"/>
                </a:solidFill>
              </a:rPr>
              <a:t>Developers Feel
More Focused</a:t>
            </a:r>
          </a:p>
        </p:txBody>
      </p:sp>
      <p:sp>
        <p:nvSpPr>
          <p:cNvPr id="66" name="StatCard3"/>
          <p:cNvSpPr/>
          <p:nvPr/>
        </p:nvSpPr>
        <p:spPr>
          <a:xfrm>
            <a:off x="8991600" y="2209800"/>
            <a:ext cx="2438400" cy="2286000"/>
          </a:xfrm>
          <a:prstGeom prst="roundRect">
            <a:avLst>
              <a:gd name="adj" fmla="val 6000"/>
            </a:avLst>
          </a:prstGeom>
          <a:solidFill>
            <a:srgbClr val="21262D"/>
          </a:solidFill>
          <a:ln w="0">
            <a:noFill/>
          </a:ln>
        </p:spPr>
        <p:txBody>
          <a:bodyPr wrap="square" lIns="182880" tIns="182880" rIns="182880" bIns="182880" anchor="ctr" anchorCtr="0"/>
          <a:lstStyle/>
          <a:p>
            <a:pPr algn="ctr">
              <a:spcAft>
                <a:spcPts val="400"/>
              </a:spcAft>
            </a:pPr>
            <a:r>
              <a:rPr lang="en-US" sz="4000" b="1" dirty="0">
                <a:solidFill>
                  <a:srgbClr val="F78166"/>
                </a:solidFill>
              </a:rPr>
              <a:t>88%</a:t>
            </a:r>
          </a:p>
          <a:p>
            <a:pPr algn="ctr">
              <a:lnSpc>
                <a:spcPts val="1800"/>
              </a:lnSpc>
            </a:pPr>
            <a:r>
              <a:rPr lang="en-US" sz="1400" dirty="0">
                <a:solidFill>
                  <a:srgbClr val="A0AEC0"/>
                </a:solidFill>
              </a:rPr>
              <a:t>Feel More
Productive</a:t>
            </a:r>
          </a:p>
        </p:txBody>
      </p:sp>
      <p:sp>
        <p:nvSpPr>
          <p:cNvPr id="70" name="Source"/>
          <p:cNvSpPr txBox="1"/>
          <p:nvPr/>
        </p:nvSpPr>
        <p:spPr>
          <a:xfrm>
            <a:off x="762000" y="4699000"/>
            <a:ext cx="10668000" cy="304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1400" i="1" dirty="0">
                <a:solidFill>
                  <a:srgbClr val="484F58"/>
                </a:solidFill>
              </a:rPr>
              <a:t>Source: GitHub Research Study on Developer Productivity, 2023</a:t>
            </a:r>
          </a:p>
        </p:txBody>
      </p:sp>
    </p:spTree>
    <p:extLst>
      <p:ext uri="{BB962C8B-B14F-4D97-AF65-F5344CB8AC3E}">
        <p14:creationId xmlns:p14="http://schemas.microsoft.com/office/powerpoint/2010/main" val="3833666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BD37C37-B018-374D-9E00-9CBC1AD4DA5E}"/>
              </a:ext>
            </a:extLst>
          </p:cNvPr>
          <p:cNvSpPr txBox="1"/>
          <p:nvPr/>
        </p:nvSpPr>
        <p:spPr>
          <a:xfrm>
            <a:off x="838200" y="381000"/>
            <a:ext cx="105156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/>
              <a:t>AI Pair-Programming Concepts</a:t>
            </a:r>
          </a:p>
        </p:txBody>
      </p:sp>
      <p:sp>
        <p:nvSpPr>
          <p:cNvPr id="10" name="PairCard0"/>
          <p:cNvSpPr/>
          <p:nvPr/>
        </p:nvSpPr>
        <p:spPr>
          <a:xfrm>
            <a:off x="914400" y="1524000"/>
            <a:ext cx="5029200" cy="4114800"/>
          </a:xfrm>
          <a:prstGeom prst="roundRect">
            <a:avLst>
              <a:gd name="adj" fmla="val 4000"/>
            </a:avLst>
          </a:prstGeom>
          <a:solidFill>
            <a:srgbClr val="21262D"/>
          </a:solidFill>
          <a:ln w="12700">
            <a:solidFill>
              <a:srgbClr val="58A6FF">
                <a:alpha val="3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PairIcon0"/>
          <p:cNvSpPr/>
          <p:nvPr/>
        </p:nvSpPr>
        <p:spPr>
          <a:xfrm>
            <a:off x="3124200" y="1828800"/>
            <a:ext cx="609600" cy="609600"/>
          </a:xfrm>
          <a:prstGeom prst="ellipse">
            <a:avLst/>
          </a:prstGeom>
          <a:solidFill>
            <a:srgbClr val="58A6FF">
              <a:alpha val="15000"/>
            </a:srgbClr>
          </a:solidFill>
          <a:ln w="19050">
            <a:solidFill>
              <a:srgbClr val="58A6FF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2400" b="1" dirty="0">
                <a:solidFill>
                  <a:srgbClr val="58A6FF"/>
                </a:solidFill>
              </a:rPr>
              <a:t>H</a:t>
            </a:r>
          </a:p>
        </p:txBody>
      </p:sp>
      <p:sp>
        <p:nvSpPr>
          <p:cNvPr id="12" name="PairHeader0"/>
          <p:cNvSpPr txBox="1"/>
          <p:nvPr/>
        </p:nvSpPr>
        <p:spPr>
          <a:xfrm>
            <a:off x="1143000" y="2667000"/>
            <a:ext cx="4572000" cy="381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600"/>
              </a:spcAft>
            </a:pPr>
            <a:r>
              <a:rPr lang="en-US" sz="2000" b="1" dirty="0">
                <a:solidFill>
                  <a:srgbClr val="58A6FF"/>
                </a:solidFill>
              </a:rPr>
              <a:t>Human Developer</a:t>
            </a:r>
          </a:p>
        </p:txBody>
      </p:sp>
      <p:sp>
        <p:nvSpPr>
          <p:cNvPr id="13" name="PairBullets0"/>
          <p:cNvSpPr txBox="1"/>
          <p:nvPr/>
        </p:nvSpPr>
        <p:spPr>
          <a:xfrm>
            <a:off x="1371600" y="3124200"/>
            <a:ext cx="411480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marL="342900" indent="-342900">
              <a:lnSpc>
                <a:spcPts val="2800"/>
              </a:lnSpc>
              <a:spcBef>
                <a:spcPts val="200"/>
              </a:spcBef>
              <a:buFont typeface="Arial"/>
              <a:buChar char="•"/>
            </a:pPr>
            <a:r>
              <a:rPr lang="en-US" sz="1600" dirty="0">
                <a:solidFill>
                  <a:srgbClr val="C9D1D9"/>
                </a:solidFill>
              </a:rPr>
              <a:t>Defines intent &amp; requirements</a:t>
            </a:r>
          </a:p>
          <a:p>
            <a:pPr marL="342900" indent="-342900">
              <a:lnSpc>
                <a:spcPts val="2800"/>
              </a:lnSpc>
              <a:spcBef>
                <a:spcPts val="200"/>
              </a:spcBef>
              <a:buFont typeface="Arial"/>
              <a:buChar char="•"/>
            </a:pPr>
            <a:r>
              <a:rPr lang="en-US" sz="1600" dirty="0">
                <a:solidFill>
                  <a:srgbClr val="C9D1D9"/>
                </a:solidFill>
              </a:rPr>
              <a:t>Reviews &amp; validates AI output</a:t>
            </a:r>
          </a:p>
          <a:p>
            <a:pPr marL="342900" indent="-342900">
              <a:lnSpc>
                <a:spcPts val="2800"/>
              </a:lnSpc>
              <a:spcBef>
                <a:spcPts val="200"/>
              </a:spcBef>
              <a:buFont typeface="Arial"/>
              <a:buChar char="•"/>
            </a:pPr>
            <a:r>
              <a:rPr lang="en-US" sz="1600" dirty="0">
                <a:solidFill>
                  <a:srgbClr val="C9D1D9"/>
                </a:solidFill>
              </a:rPr>
              <a:t>Handles architecture decisions</a:t>
            </a:r>
          </a:p>
          <a:p>
            <a:pPr marL="342900" indent="-342900">
              <a:lnSpc>
                <a:spcPts val="2800"/>
              </a:lnSpc>
              <a:spcBef>
                <a:spcPts val="200"/>
              </a:spcBef>
              <a:buFont typeface="Arial"/>
              <a:buChar char="•"/>
            </a:pPr>
            <a:r>
              <a:rPr lang="en-US" sz="1600" dirty="0">
                <a:solidFill>
                  <a:srgbClr val="C9D1D9"/>
                </a:solidFill>
              </a:rPr>
              <a:t>Owns final code quality</a:t>
            </a:r>
          </a:p>
        </p:txBody>
      </p:sp>
      <p:sp>
        <p:nvSpPr>
          <p:cNvPr id="14" name="PairCard1"/>
          <p:cNvSpPr/>
          <p:nvPr/>
        </p:nvSpPr>
        <p:spPr>
          <a:xfrm>
            <a:off x="6248400" y="1524000"/>
            <a:ext cx="5029200" cy="4114800"/>
          </a:xfrm>
          <a:prstGeom prst="roundRect">
            <a:avLst>
              <a:gd name="adj" fmla="val 4000"/>
            </a:avLst>
          </a:prstGeom>
          <a:solidFill>
            <a:srgbClr val="21262D"/>
          </a:solidFill>
          <a:ln w="12700">
            <a:solidFill>
              <a:srgbClr val="3FB950">
                <a:alpha val="3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PairIcon1"/>
          <p:cNvSpPr/>
          <p:nvPr/>
        </p:nvSpPr>
        <p:spPr>
          <a:xfrm>
            <a:off x="8458200" y="1828800"/>
            <a:ext cx="609600" cy="609600"/>
          </a:xfrm>
          <a:prstGeom prst="ellipse">
            <a:avLst/>
          </a:prstGeom>
          <a:solidFill>
            <a:srgbClr val="3FB950">
              <a:alpha val="15000"/>
            </a:srgbClr>
          </a:solidFill>
          <a:ln w="19050">
            <a:solidFill>
              <a:srgbClr val="3FB950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2400" b="1" dirty="0">
                <a:solidFill>
                  <a:srgbClr val="3FB950"/>
                </a:solidFill>
              </a:rPr>
              <a:t>AI</a:t>
            </a:r>
          </a:p>
        </p:txBody>
      </p:sp>
      <p:sp>
        <p:nvSpPr>
          <p:cNvPr id="16" name="PairHeader1"/>
          <p:cNvSpPr txBox="1"/>
          <p:nvPr/>
        </p:nvSpPr>
        <p:spPr>
          <a:xfrm>
            <a:off x="6477000" y="2667000"/>
            <a:ext cx="4572000" cy="381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600"/>
              </a:spcAft>
            </a:pPr>
            <a:r>
              <a:rPr lang="en-US" sz="2000" b="1" dirty="0">
                <a:solidFill>
                  <a:srgbClr val="3FB950"/>
                </a:solidFill>
              </a:rPr>
              <a:t>AI Copilot</a:t>
            </a:r>
          </a:p>
        </p:txBody>
      </p:sp>
      <p:sp>
        <p:nvSpPr>
          <p:cNvPr id="17" name="PairBullets1"/>
          <p:cNvSpPr txBox="1"/>
          <p:nvPr/>
        </p:nvSpPr>
        <p:spPr>
          <a:xfrm>
            <a:off x="6705600" y="3124200"/>
            <a:ext cx="411480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marL="342900" indent="-342900">
              <a:lnSpc>
                <a:spcPts val="2800"/>
              </a:lnSpc>
              <a:spcBef>
                <a:spcPts val="200"/>
              </a:spcBef>
              <a:buFont typeface="Arial"/>
              <a:buChar char="•"/>
            </a:pPr>
            <a:r>
              <a:rPr lang="en-US" sz="1600" dirty="0">
                <a:solidFill>
                  <a:srgbClr val="C9D1D9"/>
                </a:solidFill>
              </a:rPr>
              <a:t>Generates code suggestions</a:t>
            </a:r>
          </a:p>
          <a:p>
            <a:pPr marL="342900" indent="-342900">
              <a:lnSpc>
                <a:spcPts val="2800"/>
              </a:lnSpc>
              <a:spcBef>
                <a:spcPts val="200"/>
              </a:spcBef>
              <a:buFont typeface="Arial"/>
              <a:buChar char="•"/>
            </a:pPr>
            <a:r>
              <a:rPr lang="en-US" sz="1600" dirty="0">
                <a:solidFill>
                  <a:srgbClr val="C9D1D9"/>
                </a:solidFill>
              </a:rPr>
              <a:t>Autocompletes patterns</a:t>
            </a:r>
          </a:p>
          <a:p>
            <a:pPr marL="342900" indent="-342900">
              <a:lnSpc>
                <a:spcPts val="2800"/>
              </a:lnSpc>
              <a:spcBef>
                <a:spcPts val="200"/>
              </a:spcBef>
              <a:buFont typeface="Arial"/>
              <a:buChar char="•"/>
            </a:pPr>
            <a:r>
              <a:rPr lang="en-US" sz="1600" dirty="0">
                <a:solidFill>
                  <a:srgbClr val="C9D1D9"/>
                </a:solidFill>
              </a:rPr>
              <a:t>Proposes test cases</a:t>
            </a:r>
          </a:p>
          <a:p>
            <a:pPr marL="342900" indent="-342900">
              <a:lnSpc>
                <a:spcPts val="2800"/>
              </a:lnSpc>
              <a:spcBef>
                <a:spcPts val="200"/>
              </a:spcBef>
              <a:buFont typeface="Arial"/>
              <a:buChar char="•"/>
            </a:pPr>
            <a:r>
              <a:rPr lang="en-US" sz="1600" dirty="0">
                <a:solidFill>
                  <a:srgbClr val="C9D1D9"/>
                </a:solidFill>
              </a:rPr>
              <a:t>Explains existing code</a:t>
            </a:r>
          </a:p>
        </p:txBody>
      </p:sp>
      <p:sp>
        <p:nvSpPr>
          <p:cNvPr id="20" name="VSArrow"/>
          <p:cNvSpPr txBox="1"/>
          <p:nvPr/>
        </p:nvSpPr>
        <p:spPr>
          <a:xfrm>
            <a:off x="6019800" y="3048000"/>
            <a:ext cx="1524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2800" b="1" dirty="0">
                <a:solidFill>
                  <a:srgbClr val="F78166"/>
                </a:solidFill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1344758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0281BC-5E08-CF4F-A6D2-655E02BDE22B}"/>
              </a:ext>
            </a:extLst>
          </p:cNvPr>
          <p:cNvSpPr txBox="1"/>
          <p:nvPr/>
        </p:nvSpPr>
        <p:spPr>
          <a:xfrm>
            <a:off x="2286000" y="2286000"/>
            <a:ext cx="7620000" cy="70788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000" b="1"/>
              <a:t>Hands-On Lab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A59D3D-62A1-B14F-9F43-C582A6CA37D8}"/>
              </a:ext>
            </a:extLst>
          </p:cNvPr>
          <p:cNvSpPr txBox="1"/>
          <p:nvPr/>
        </p:nvSpPr>
        <p:spPr>
          <a:xfrm>
            <a:off x="2286000" y="3302000"/>
            <a:ext cx="7620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/>
              <a:t>2-Hour Practical Session  |  Configure, Experiment, Review</a:t>
            </a:r>
          </a:p>
        </p:txBody>
      </p:sp>
    </p:spTree>
    <p:extLst>
      <p:ext uri="{BB962C8B-B14F-4D97-AF65-F5344CB8AC3E}">
        <p14:creationId xmlns:p14="http://schemas.microsoft.com/office/powerpoint/2010/main" val="113618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C744A-9C93-32A6-0B07-5CF7460C5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Lab: Configure GitHub Copilot</a:t>
            </a:r>
          </a:p>
        </p:txBody>
      </p:sp>
      <p:sp>
        <p:nvSpPr>
          <p:cNvPr id="80" name="StepNum0"/>
          <p:cNvSpPr/>
          <p:nvPr/>
        </p:nvSpPr>
        <p:spPr>
          <a:xfrm>
            <a:off x="1639500" y="2540000"/>
            <a:ext cx="457200" cy="457200"/>
          </a:xfrm>
          <a:prstGeom prst="ellipse">
            <a:avLst/>
          </a:prstGeom>
          <a:solidFill>
            <a:srgbClr val="58A6FF"/>
          </a:solidFill>
          <a:ln w="0"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2400" b="1" dirty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81" name="StepTitle0"/>
          <p:cNvSpPr txBox="1"/>
          <p:nvPr/>
        </p:nvSpPr>
        <p:spPr>
          <a:xfrm>
            <a:off x="573100" y="2133600"/>
            <a:ext cx="2590000" cy="3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1600" b="1" dirty="0">
                <a:solidFill>
                  <a:srgbClr val="E8ECF0"/>
                </a:solidFill>
              </a:rPr>
              <a:t>Install Extension</a:t>
            </a:r>
          </a:p>
        </p:txBody>
      </p:sp>
      <p:sp>
        <p:nvSpPr>
          <p:cNvPr id="82" name="StepDesc0"/>
          <p:cNvSpPr txBox="1"/>
          <p:nvPr/>
        </p:nvSpPr>
        <p:spPr>
          <a:xfrm>
            <a:off x="573100" y="3732800"/>
            <a:ext cx="25900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2200"/>
              </a:lnSpc>
            </a:pPr>
            <a:r>
              <a:rPr lang="en-US" sz="1400" dirty="0">
                <a:solidFill>
                  <a:srgbClr val="A0AEC0"/>
                </a:solidFill>
              </a:rPr>
              <a:t>Open VS Code Extensions
Search "GitHub Copilot"
Click Install</a:t>
            </a:r>
          </a:p>
        </p:txBody>
      </p:sp>
      <p:sp>
        <p:nvSpPr>
          <p:cNvPr id="83" name="StepNum1"/>
          <p:cNvSpPr/>
          <p:nvPr/>
        </p:nvSpPr>
        <p:spPr>
          <a:xfrm>
            <a:off x="4458100" y="2540000"/>
            <a:ext cx="457200" cy="457200"/>
          </a:xfrm>
          <a:prstGeom prst="ellipse">
            <a:avLst/>
          </a:prstGeom>
          <a:solidFill>
            <a:srgbClr val="58A6FF"/>
          </a:solidFill>
          <a:ln w="0"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2400" b="1" dirty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84" name="StepTitle1"/>
          <p:cNvSpPr txBox="1"/>
          <p:nvPr/>
        </p:nvSpPr>
        <p:spPr>
          <a:xfrm>
            <a:off x="3391700" y="2133600"/>
            <a:ext cx="2590000" cy="3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1600" b="1" dirty="0">
                <a:solidFill>
                  <a:srgbClr val="E8ECF0"/>
                </a:solidFill>
              </a:rPr>
              <a:t>Authenticate</a:t>
            </a:r>
          </a:p>
        </p:txBody>
      </p:sp>
      <p:sp>
        <p:nvSpPr>
          <p:cNvPr id="85" name="StepDesc1"/>
          <p:cNvSpPr txBox="1"/>
          <p:nvPr/>
        </p:nvSpPr>
        <p:spPr>
          <a:xfrm>
            <a:off x="3391700" y="3732800"/>
            <a:ext cx="25900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2200"/>
              </a:lnSpc>
            </a:pPr>
            <a:r>
              <a:rPr lang="en-US" sz="1400" dirty="0">
                <a:solidFill>
                  <a:srgbClr val="A0AEC0"/>
                </a:solidFill>
              </a:rPr>
              <a:t>Sign in with GitHub
Authorise the extension
Verify enterprise license</a:t>
            </a:r>
          </a:p>
        </p:txBody>
      </p:sp>
      <p:sp>
        <p:nvSpPr>
          <p:cNvPr id="86" name="StepNum2"/>
          <p:cNvSpPr/>
          <p:nvPr/>
        </p:nvSpPr>
        <p:spPr>
          <a:xfrm>
            <a:off x="7276700" y="2540000"/>
            <a:ext cx="457200" cy="457200"/>
          </a:xfrm>
          <a:prstGeom prst="ellipse">
            <a:avLst/>
          </a:prstGeom>
          <a:solidFill>
            <a:srgbClr val="58A6FF"/>
          </a:solidFill>
          <a:ln w="0"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2400" b="1" dirty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87" name="StepTitle2"/>
          <p:cNvSpPr txBox="1"/>
          <p:nvPr/>
        </p:nvSpPr>
        <p:spPr>
          <a:xfrm>
            <a:off x="6210300" y="2133600"/>
            <a:ext cx="2590000" cy="3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1600" b="1" dirty="0">
                <a:solidFill>
                  <a:srgbClr val="E8ECF0"/>
                </a:solidFill>
              </a:rPr>
              <a:t>Configure Settings</a:t>
            </a:r>
          </a:p>
        </p:txBody>
      </p:sp>
      <p:sp>
        <p:nvSpPr>
          <p:cNvPr id="88" name="StepDesc2"/>
          <p:cNvSpPr txBox="1"/>
          <p:nvPr/>
        </p:nvSpPr>
        <p:spPr>
          <a:xfrm>
            <a:off x="6210300" y="3732800"/>
            <a:ext cx="25900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2200"/>
              </a:lnSpc>
            </a:pPr>
            <a:r>
              <a:rPr lang="en-US" sz="1400" dirty="0">
                <a:solidFill>
                  <a:srgbClr val="A0AEC0"/>
                </a:solidFill>
              </a:rPr>
              <a:t>Set language preferences
Enable/disable auto-suggestions
Configure keyboard shortcuts</a:t>
            </a:r>
          </a:p>
        </p:txBody>
      </p:sp>
      <p:sp>
        <p:nvSpPr>
          <p:cNvPr id="89" name="StepNum3"/>
          <p:cNvSpPr/>
          <p:nvPr/>
        </p:nvSpPr>
        <p:spPr>
          <a:xfrm>
            <a:off x="10095300" y="2540000"/>
            <a:ext cx="457200" cy="457200"/>
          </a:xfrm>
          <a:prstGeom prst="ellipse">
            <a:avLst/>
          </a:prstGeom>
          <a:solidFill>
            <a:srgbClr val="58A6FF"/>
          </a:solidFill>
          <a:ln w="0"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2400" b="1" dirty="0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90" name="StepTitle3"/>
          <p:cNvSpPr txBox="1"/>
          <p:nvPr/>
        </p:nvSpPr>
        <p:spPr>
          <a:xfrm>
            <a:off x="9028900" y="2133600"/>
            <a:ext cx="2590000" cy="3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1600" b="1" dirty="0">
                <a:solidFill>
                  <a:srgbClr val="E8ECF0"/>
                </a:solidFill>
              </a:rPr>
              <a:t>Verify Setup</a:t>
            </a:r>
          </a:p>
        </p:txBody>
      </p:sp>
      <p:sp>
        <p:nvSpPr>
          <p:cNvPr id="91" name="StepDesc3"/>
          <p:cNvSpPr txBox="1"/>
          <p:nvPr/>
        </p:nvSpPr>
        <p:spPr>
          <a:xfrm>
            <a:off x="9028900" y="3732800"/>
            <a:ext cx="25900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2200"/>
              </a:lnSpc>
            </a:pPr>
            <a:r>
              <a:rPr lang="en-US" sz="1400" dirty="0">
                <a:solidFill>
                  <a:srgbClr val="A0AEC0"/>
                </a:solidFill>
              </a:rPr>
              <a:t>Open a Python file
Type a function signature
Confirm ghost text appears</a:t>
            </a:r>
          </a:p>
        </p:txBody>
      </p:sp>
    </p:spTree>
    <p:extLst>
      <p:ext uri="{BB962C8B-B14F-4D97-AF65-F5344CB8AC3E}">
        <p14:creationId xmlns:p14="http://schemas.microsoft.com/office/powerpoint/2010/main" val="3990121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76B3BE-F6D4-2E49-B8CA-E28550C9EED7}"/>
              </a:ext>
            </a:extLst>
          </p:cNvPr>
          <p:cNvSpPr txBox="1"/>
          <p:nvPr/>
        </p:nvSpPr>
        <p:spPr>
          <a:xfrm>
            <a:off x="838200" y="381000"/>
            <a:ext cx="105156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/>
              <a:t>Lab: Guided Experiments</a:t>
            </a:r>
          </a:p>
        </p:txBody>
      </p:sp>
      <p:sp>
        <p:nvSpPr>
          <p:cNvPr id="90" name="ExpCard0"/>
          <p:cNvSpPr/>
          <p:nvPr/>
        </p:nvSpPr>
        <p:spPr>
          <a:xfrm>
            <a:off x="914400" y="1524000"/>
            <a:ext cx="10363200" cy="1371600"/>
          </a:xfrm>
          <a:prstGeom prst="roundRect">
            <a:avLst>
              <a:gd name="adj" fmla="val 3000"/>
            </a:avLst>
          </a:prstGeom>
          <a:solidFill>
            <a:srgbClr val="21262D"/>
          </a:solidFill>
          <a:ln w="0">
            <a:noFill/>
          </a:ln>
        </p:spPr>
        <p:txBody>
          <a:bodyPr wrap="square" lIns="365760" tIns="137160" rIns="182880" bIns="137160" anchor="ctr"/>
          <a:lstStyle/>
          <a:p>
            <a:pPr>
              <a:spcAft>
                <a:spcPts val="400"/>
              </a:spcAft>
            </a:pPr>
            <a:r>
              <a:rPr lang="en-US" sz="1800" b="1" dirty="0">
                <a:solidFill>
                  <a:srgbClr val="58A6FF"/>
                </a:solidFill>
              </a:rPr>
              <a:t>Experiment 1: Function Generation</a:t>
            </a:r>
          </a:p>
          <a:p>
            <a:r>
              <a:rPr lang="en-US" sz="1400" dirty="0">
                <a:solidFill>
                  <a:srgbClr val="A0AEC0"/>
                </a:solidFill>
              </a:rPr>
              <a:t>Write a function signature and docstring, let Copilot generate the implementation. Compare AI output to your expected solution.</a:t>
            </a:r>
          </a:p>
        </p:txBody>
      </p:sp>
      <p:sp>
        <p:nvSpPr>
          <p:cNvPr id="91" name="ExpAccent0"/>
          <p:cNvSpPr/>
          <p:nvPr/>
        </p:nvSpPr>
        <p:spPr>
          <a:xfrm>
            <a:off x="914400" y="1524000"/>
            <a:ext cx="76200" cy="1371600"/>
          </a:xfrm>
          <a:prstGeom prst="roundRect">
            <a:avLst>
              <a:gd name="adj" fmla="val 0"/>
            </a:avLst>
          </a:prstGeom>
          <a:solidFill>
            <a:srgbClr val="58A6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2" name="ExpCard1"/>
          <p:cNvSpPr/>
          <p:nvPr/>
        </p:nvSpPr>
        <p:spPr>
          <a:xfrm>
            <a:off x="914400" y="3124200"/>
            <a:ext cx="10363200" cy="1371600"/>
          </a:xfrm>
          <a:prstGeom prst="roundRect">
            <a:avLst>
              <a:gd name="adj" fmla="val 3000"/>
            </a:avLst>
          </a:prstGeom>
          <a:solidFill>
            <a:srgbClr val="21262D"/>
          </a:solidFill>
          <a:ln w="0">
            <a:noFill/>
          </a:ln>
        </p:spPr>
        <p:txBody>
          <a:bodyPr wrap="square" lIns="365760" tIns="137160" rIns="182880" bIns="137160" anchor="ctr"/>
          <a:lstStyle/>
          <a:p>
            <a:pPr>
              <a:spcAft>
                <a:spcPts val="400"/>
              </a:spcAft>
            </a:pPr>
            <a:r>
              <a:rPr lang="en-US" sz="1800" b="1" dirty="0">
                <a:solidFill>
                  <a:srgbClr val="3FB950"/>
                </a:solidFill>
              </a:rPr>
              <a:t>Experiment 2: Test Case Generation</a:t>
            </a:r>
          </a:p>
          <a:p>
            <a:r>
              <a:rPr lang="en-US" sz="1400" dirty="0">
                <a:solidFill>
                  <a:srgbClr val="A0AEC0"/>
                </a:solidFill>
              </a:rPr>
              <a:t>Given an existing function, use Copilot to generate unit tests. Evaluate coverage and edge case handling.</a:t>
            </a:r>
          </a:p>
        </p:txBody>
      </p:sp>
      <p:sp>
        <p:nvSpPr>
          <p:cNvPr id="93" name="ExpAccent1"/>
          <p:cNvSpPr/>
          <p:nvPr/>
        </p:nvSpPr>
        <p:spPr>
          <a:xfrm>
            <a:off x="914400" y="3124200"/>
            <a:ext cx="76200" cy="1371600"/>
          </a:xfrm>
          <a:prstGeom prst="roundRect">
            <a:avLst>
              <a:gd name="adj" fmla="val 0"/>
            </a:avLst>
          </a:prstGeom>
          <a:solidFill>
            <a:srgbClr val="3FB95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4" name="ExpCard2"/>
          <p:cNvSpPr/>
          <p:nvPr/>
        </p:nvSpPr>
        <p:spPr>
          <a:xfrm>
            <a:off x="914400" y="4724400"/>
            <a:ext cx="10363200" cy="1371600"/>
          </a:xfrm>
          <a:prstGeom prst="roundRect">
            <a:avLst>
              <a:gd name="adj" fmla="val 3000"/>
            </a:avLst>
          </a:prstGeom>
          <a:solidFill>
            <a:srgbClr val="21262D"/>
          </a:solidFill>
          <a:ln w="0">
            <a:noFill/>
          </a:ln>
        </p:spPr>
        <p:txBody>
          <a:bodyPr wrap="square" lIns="365760" tIns="137160" rIns="182880" bIns="137160" anchor="ctr"/>
          <a:lstStyle/>
          <a:p>
            <a:pPr>
              <a:spcAft>
                <a:spcPts val="400"/>
              </a:spcAft>
            </a:pPr>
            <a:r>
              <a:rPr lang="en-US" sz="1800" b="1" dirty="0">
                <a:solidFill>
                  <a:srgbClr val="BC8CFF"/>
                </a:solidFill>
              </a:rPr>
              <a:t>Experiment 3: Code Quality Review</a:t>
            </a:r>
          </a:p>
          <a:p>
            <a:r>
              <a:rPr lang="en-US" sz="1400" dirty="0">
                <a:solidFill>
                  <a:srgbClr val="A0AEC0"/>
                </a:solidFill>
              </a:rPr>
              <a:t>Review AI-generated code for best practices, security issues, and performance. Practice accepting, modifying, and rejecting suggestions.</a:t>
            </a:r>
          </a:p>
        </p:txBody>
      </p:sp>
      <p:sp>
        <p:nvSpPr>
          <p:cNvPr id="95" name="ExpAccent2"/>
          <p:cNvSpPr/>
          <p:nvPr/>
        </p:nvSpPr>
        <p:spPr>
          <a:xfrm>
            <a:off x="914400" y="4724400"/>
            <a:ext cx="76200" cy="1371600"/>
          </a:xfrm>
          <a:prstGeom prst="roundRect">
            <a:avLst>
              <a:gd name="adj" fmla="val 0"/>
            </a:avLst>
          </a:prstGeom>
          <a:solidFill>
            <a:srgbClr val="BC8C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610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B37EC-8DC6-7EB5-EA22-DA79622E1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Responsible Use of AI-Generated Code</a:t>
            </a:r>
          </a:p>
        </p:txBody>
      </p:sp>
      <p:sp>
        <p:nvSpPr>
          <p:cNvPr id="100" name="PCard0"/>
          <p:cNvSpPr/>
          <p:nvPr/>
        </p:nvSpPr>
        <p:spPr>
          <a:xfrm>
            <a:off x="914400" y="1905000"/>
            <a:ext cx="5029200" cy="1600000"/>
          </a:xfrm>
          <a:prstGeom prst="roundRect">
            <a:avLst>
              <a:gd name="adj" fmla="val 5000"/>
            </a:avLst>
          </a:prstGeom>
          <a:solidFill>
            <a:srgbClr val="21262D"/>
          </a:solidFill>
          <a:ln w="12700">
            <a:solidFill>
              <a:srgbClr val="3FB950">
                <a:alpha val="30000"/>
              </a:srgbClr>
            </a:solidFill>
          </a:ln>
        </p:spPr>
        <p:txBody>
          <a:bodyPr wrap="square" lIns="731520" tIns="91440" rIns="182880" bIns="91440" anchor="ctr"/>
          <a:lstStyle/>
          <a:p>
            <a:pPr>
              <a:spcAft>
                <a:spcPts val="200"/>
              </a:spcAft>
            </a:pPr>
            <a:r>
              <a:rPr lang="en-US" sz="1800" b="1" dirty="0">
                <a:solidFill>
                  <a:srgbClr val="E8ECF0"/>
                </a:solidFill>
              </a:rPr>
              <a:t>Always Review</a:t>
            </a:r>
          </a:p>
          <a:p>
            <a:r>
              <a:rPr lang="en-US" sz="1400" dirty="0">
                <a:solidFill>
                  <a:srgbClr val="A0AEC0"/>
                </a:solidFill>
              </a:rPr>
              <a:t>Never blindly accept AI suggestions.
Review every line as if you wrote it.</a:t>
            </a:r>
          </a:p>
        </p:txBody>
      </p:sp>
      <p:sp>
        <p:nvSpPr>
          <p:cNvPr id="101" name="PIcon0"/>
          <p:cNvSpPr/>
          <p:nvPr/>
        </p:nvSpPr>
        <p:spPr>
          <a:xfrm>
            <a:off x="1097280" y="2133500"/>
            <a:ext cx="381000" cy="381000"/>
          </a:xfrm>
          <a:prstGeom prst="ellipse">
            <a:avLst/>
          </a:prstGeom>
          <a:solidFill>
            <a:srgbClr val="3FB950">
              <a:alpha val="15000"/>
            </a:srgbClr>
          </a:solidFill>
          <a:ln w="0"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800" b="1" dirty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102" name="PCard1"/>
          <p:cNvSpPr/>
          <p:nvPr/>
        </p:nvSpPr>
        <p:spPr>
          <a:xfrm>
            <a:off x="6248400" y="1905000"/>
            <a:ext cx="5029200" cy="1600000"/>
          </a:xfrm>
          <a:prstGeom prst="roundRect">
            <a:avLst>
              <a:gd name="adj" fmla="val 5000"/>
            </a:avLst>
          </a:prstGeom>
          <a:solidFill>
            <a:srgbClr val="21262D"/>
          </a:solidFill>
          <a:ln w="12700">
            <a:solidFill>
              <a:srgbClr val="58A6FF">
                <a:alpha val="30000"/>
              </a:srgbClr>
            </a:solidFill>
          </a:ln>
        </p:spPr>
        <p:txBody>
          <a:bodyPr wrap="square" lIns="731520" tIns="91440" rIns="182880" bIns="91440" anchor="ctr"/>
          <a:lstStyle/>
          <a:p>
            <a:pPr>
              <a:spcAft>
                <a:spcPts val="200"/>
              </a:spcAft>
            </a:pPr>
            <a:r>
              <a:rPr lang="en-US" sz="1800" b="1" dirty="0">
                <a:solidFill>
                  <a:srgbClr val="E8ECF0"/>
                </a:solidFill>
              </a:rPr>
              <a:t>Test Thoroughly</a:t>
            </a:r>
          </a:p>
          <a:p>
            <a:r>
              <a:rPr lang="en-US" sz="1400" dirty="0">
                <a:solidFill>
                  <a:srgbClr val="A0AEC0"/>
                </a:solidFill>
              </a:rPr>
              <a:t>AI code needs the same testing
rigor as human-written code.</a:t>
            </a:r>
          </a:p>
        </p:txBody>
      </p:sp>
      <p:sp>
        <p:nvSpPr>
          <p:cNvPr id="103" name="PIcon1"/>
          <p:cNvSpPr/>
          <p:nvPr/>
        </p:nvSpPr>
        <p:spPr>
          <a:xfrm>
            <a:off x="6431280" y="2133500"/>
            <a:ext cx="381000" cy="381000"/>
          </a:xfrm>
          <a:prstGeom prst="ellipse">
            <a:avLst/>
          </a:prstGeom>
          <a:solidFill>
            <a:srgbClr val="58A6FF">
              <a:alpha val="15000"/>
            </a:srgbClr>
          </a:solidFill>
          <a:ln w="0"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800" b="1" dirty="0">
                <a:solidFill>
                  <a:srgbClr val="58A6FF"/>
                </a:solidFill>
              </a:rPr>
              <a:t>⚡</a:t>
            </a:r>
          </a:p>
        </p:txBody>
      </p:sp>
      <p:sp>
        <p:nvSpPr>
          <p:cNvPr id="104" name="PCard2"/>
          <p:cNvSpPr/>
          <p:nvPr/>
        </p:nvSpPr>
        <p:spPr>
          <a:xfrm>
            <a:off x="914400" y="3733600"/>
            <a:ext cx="5029200" cy="1600000"/>
          </a:xfrm>
          <a:prstGeom prst="roundRect">
            <a:avLst>
              <a:gd name="adj" fmla="val 5000"/>
            </a:avLst>
          </a:prstGeom>
          <a:solidFill>
            <a:srgbClr val="21262D"/>
          </a:solidFill>
          <a:ln w="12700">
            <a:solidFill>
              <a:srgbClr val="BC8CFF">
                <a:alpha val="30000"/>
              </a:srgbClr>
            </a:solidFill>
          </a:ln>
        </p:spPr>
        <p:txBody>
          <a:bodyPr wrap="square" lIns="731520" tIns="91440" rIns="182880" bIns="91440" anchor="ctr"/>
          <a:lstStyle/>
          <a:p>
            <a:pPr>
              <a:spcAft>
                <a:spcPts val="200"/>
              </a:spcAft>
            </a:pPr>
            <a:r>
              <a:rPr lang="en-US" sz="1800" b="1" dirty="0">
                <a:solidFill>
                  <a:srgbClr val="E8ECF0"/>
                </a:solidFill>
              </a:rPr>
              <a:t>Understand First</a:t>
            </a:r>
          </a:p>
          <a:p>
            <a:r>
              <a:rPr lang="en-US" sz="1400" dirty="0">
                <a:solidFill>
                  <a:srgbClr val="A0AEC0"/>
                </a:solidFill>
              </a:rPr>
              <a:t>Don't use code you don't understand.
Copilot assists — you decide.</a:t>
            </a:r>
          </a:p>
        </p:txBody>
      </p:sp>
      <p:sp>
        <p:nvSpPr>
          <p:cNvPr id="105" name="PIcon2"/>
          <p:cNvSpPr/>
          <p:nvPr/>
        </p:nvSpPr>
        <p:spPr>
          <a:xfrm>
            <a:off x="1097280" y="4343100"/>
            <a:ext cx="381000" cy="381000"/>
          </a:xfrm>
          <a:prstGeom prst="ellipse">
            <a:avLst/>
          </a:prstGeom>
          <a:solidFill>
            <a:srgbClr val="BC8CFF">
              <a:alpha val="15000"/>
            </a:srgbClr>
          </a:solidFill>
          <a:ln w="0"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800" b="1" dirty="0">
                <a:solidFill>
                  <a:srgbClr val="BC8CFF"/>
                </a:solidFill>
              </a:rPr>
              <a:t>◆</a:t>
            </a:r>
          </a:p>
        </p:txBody>
      </p:sp>
      <p:sp>
        <p:nvSpPr>
          <p:cNvPr id="106" name="PCard3"/>
          <p:cNvSpPr/>
          <p:nvPr/>
        </p:nvSpPr>
        <p:spPr>
          <a:xfrm>
            <a:off x="6248400" y="3733600"/>
            <a:ext cx="5029200" cy="1600000"/>
          </a:xfrm>
          <a:prstGeom prst="roundRect">
            <a:avLst>
              <a:gd name="adj" fmla="val 5000"/>
            </a:avLst>
          </a:prstGeom>
          <a:solidFill>
            <a:srgbClr val="21262D"/>
          </a:solidFill>
          <a:ln w="12700">
            <a:solidFill>
              <a:srgbClr val="F78166">
                <a:alpha val="30000"/>
              </a:srgbClr>
            </a:solidFill>
          </a:ln>
        </p:spPr>
        <p:txBody>
          <a:bodyPr wrap="square" lIns="731520" tIns="91440" rIns="182880" bIns="91440" anchor="ctr"/>
          <a:lstStyle/>
          <a:p>
            <a:pPr>
              <a:spcAft>
                <a:spcPts val="200"/>
              </a:spcAft>
            </a:pPr>
            <a:r>
              <a:rPr lang="en-US" sz="1800" b="1" dirty="0">
                <a:solidFill>
                  <a:srgbClr val="E8ECF0"/>
                </a:solidFill>
              </a:rPr>
              <a:t>Maintain Standards</a:t>
            </a:r>
          </a:p>
          <a:p>
            <a:r>
              <a:rPr lang="en-US" sz="1400" dirty="0">
                <a:solidFill>
                  <a:srgbClr val="A0AEC0"/>
                </a:solidFill>
              </a:rPr>
              <a:t>Enforce your team's coding standards
regardless of code source.</a:t>
            </a:r>
          </a:p>
        </p:txBody>
      </p:sp>
      <p:sp>
        <p:nvSpPr>
          <p:cNvPr id="107" name="PIcon3"/>
          <p:cNvSpPr/>
          <p:nvPr/>
        </p:nvSpPr>
        <p:spPr>
          <a:xfrm>
            <a:off x="6431280" y="4343100"/>
            <a:ext cx="381000" cy="381000"/>
          </a:xfrm>
          <a:prstGeom prst="ellipse">
            <a:avLst/>
          </a:prstGeom>
          <a:solidFill>
            <a:srgbClr val="F78166">
              <a:alpha val="15000"/>
            </a:srgbClr>
          </a:solidFill>
          <a:ln w="0"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800" b="1" dirty="0">
                <a:solidFill>
                  <a:srgbClr val="F78166"/>
                </a:solidFill>
              </a:rPr>
              <a:t>★</a:t>
            </a:r>
          </a:p>
        </p:txBody>
      </p:sp>
    </p:spTree>
    <p:extLst>
      <p:ext uri="{BB962C8B-B14F-4D97-AF65-F5344CB8AC3E}">
        <p14:creationId xmlns:p14="http://schemas.microsoft.com/office/powerpoint/2010/main" val="7721346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0F972-7098-AFE9-9751-F97F43869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Security &amp; Compliance Considerations</a:t>
            </a:r>
          </a:p>
        </p:txBody>
      </p:sp>
      <p:sp>
        <p:nvSpPr>
          <p:cNvPr id="110" name="RiskHeader"/>
          <p:cNvSpPr txBox="1"/>
          <p:nvPr/>
        </p:nvSpPr>
        <p:spPr>
          <a:xfrm>
            <a:off x="457200" y="1752600"/>
            <a:ext cx="5486400" cy="38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lang="en-US" sz="2000" b="1" dirty="0">
                <a:solidFill>
                  <a:srgbClr val="F78166"/>
                </a:solidFill>
              </a:rPr>
              <a:t>⚠  Key Risk Areas</a:t>
            </a:r>
          </a:p>
        </p:txBody>
      </p:sp>
      <p:sp>
        <p:nvSpPr>
          <p:cNvPr id="111" name="RiskContent"/>
          <p:cNvSpPr txBox="1"/>
          <p:nvPr/>
        </p:nvSpPr>
        <p:spPr>
          <a:xfrm>
            <a:off x="457200" y="2286000"/>
            <a:ext cx="5486400" cy="4114800"/>
          </a:xfrm>
          <a:prstGeom prst="rect">
            <a:avLst/>
          </a:prstGeom>
          <a:noFill/>
        </p:spPr>
        <p:txBody>
          <a:bodyPr wrap="square" anchor="t"/>
          <a:lstStyle/>
          <a:p>
            <a:pPr marL="342900" indent="-342900">
              <a:lnSpc>
                <a:spcPts val="2600"/>
              </a:lnSpc>
              <a:spcBef>
                <a:spcPts val="300"/>
              </a:spcBef>
              <a:buFont typeface="Arial"/>
              <a:buChar char="•"/>
            </a:pPr>
            <a:r>
              <a:rPr lang="en-US" sz="1600" dirty="0">
                <a:solidFill>
                  <a:srgbClr val="C9D1D9"/>
                </a:solidFill>
              </a:rPr>
              <a:t>Intellectual property exposure — code snippets sent to cloud</a:t>
            </a:r>
          </a:p>
          <a:p>
            <a:pPr marL="342900" indent="-342900">
              <a:lnSpc>
                <a:spcPts val="2600"/>
              </a:lnSpc>
              <a:spcBef>
                <a:spcPts val="300"/>
              </a:spcBef>
              <a:buFont typeface="Arial"/>
              <a:buChar char="•"/>
            </a:pPr>
            <a:r>
              <a:rPr lang="en-US" sz="1600" dirty="0">
                <a:solidFill>
                  <a:srgbClr val="C9D1D9"/>
                </a:solidFill>
              </a:rPr>
              <a:t>License compliance — AI may suggest copyrighted patterns</a:t>
            </a:r>
          </a:p>
          <a:p>
            <a:pPr marL="342900" indent="-342900">
              <a:lnSpc>
                <a:spcPts val="2600"/>
              </a:lnSpc>
              <a:spcBef>
                <a:spcPts val="300"/>
              </a:spcBef>
              <a:buFont typeface="Arial"/>
              <a:buChar char="•"/>
            </a:pPr>
            <a:r>
              <a:rPr lang="en-US" sz="1600" dirty="0">
                <a:solidFill>
                  <a:srgbClr val="C9D1D9"/>
                </a:solidFill>
              </a:rPr>
              <a:t>Sensitive data leakage — credentials in prompts or context</a:t>
            </a:r>
          </a:p>
          <a:p>
            <a:pPr marL="342900" indent="-342900">
              <a:lnSpc>
                <a:spcPts val="2600"/>
              </a:lnSpc>
              <a:spcBef>
                <a:spcPts val="300"/>
              </a:spcBef>
              <a:buFont typeface="Arial"/>
              <a:buChar char="•"/>
            </a:pPr>
            <a:r>
              <a:rPr lang="en-US" sz="1600" dirty="0">
                <a:solidFill>
                  <a:srgbClr val="C9D1D9"/>
                </a:solidFill>
              </a:rPr>
              <a:t>Supply chain risks — unvetted dependency suggestions</a:t>
            </a:r>
          </a:p>
        </p:txBody>
      </p:sp>
      <p:sp>
        <p:nvSpPr>
          <p:cNvPr id="112" name="MitHeader"/>
          <p:cNvSpPr txBox="1"/>
          <p:nvPr/>
        </p:nvSpPr>
        <p:spPr>
          <a:xfrm>
            <a:off x="6248400" y="1752600"/>
            <a:ext cx="5486400" cy="38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lang="en-US" sz="2000" b="1" dirty="0">
                <a:solidFill>
                  <a:srgbClr val="3FB950"/>
                </a:solidFill>
              </a:rPr>
              <a:t>✓  Enterprise Mitigations</a:t>
            </a:r>
          </a:p>
        </p:txBody>
      </p:sp>
      <p:sp>
        <p:nvSpPr>
          <p:cNvPr id="113" name="MitContent"/>
          <p:cNvSpPr txBox="1"/>
          <p:nvPr/>
        </p:nvSpPr>
        <p:spPr>
          <a:xfrm>
            <a:off x="6248400" y="2286000"/>
            <a:ext cx="5486400" cy="4114800"/>
          </a:xfrm>
          <a:prstGeom prst="rect">
            <a:avLst/>
          </a:prstGeom>
          <a:noFill/>
        </p:spPr>
        <p:txBody>
          <a:bodyPr wrap="square" anchor="t"/>
          <a:lstStyle/>
          <a:p>
            <a:pPr marL="342900" indent="-342900">
              <a:lnSpc>
                <a:spcPts val="2600"/>
              </a:lnSpc>
              <a:spcBef>
                <a:spcPts val="300"/>
              </a:spcBef>
              <a:buFont typeface="Arial"/>
              <a:buChar char="•"/>
            </a:pPr>
            <a:r>
              <a:rPr lang="en-US" sz="1600" dirty="0">
                <a:solidFill>
                  <a:srgbClr val="C9D1D9"/>
                </a:solidFill>
              </a:rPr>
              <a:t>Use Copilot for Business — no code retention by GitHub</a:t>
            </a:r>
          </a:p>
          <a:p>
            <a:pPr marL="342900" indent="-342900">
              <a:lnSpc>
                <a:spcPts val="2600"/>
              </a:lnSpc>
              <a:spcBef>
                <a:spcPts val="300"/>
              </a:spcBef>
              <a:buFont typeface="Arial"/>
              <a:buChar char="•"/>
            </a:pPr>
            <a:r>
              <a:rPr lang="en-US" sz="1600" dirty="0">
                <a:solidFill>
                  <a:srgbClr val="C9D1D9"/>
                </a:solidFill>
              </a:rPr>
              <a:t>Configure content exclusion policies for sensitive repos</a:t>
            </a:r>
          </a:p>
          <a:p>
            <a:pPr marL="342900" indent="-342900">
              <a:lnSpc>
                <a:spcPts val="2600"/>
              </a:lnSpc>
              <a:spcBef>
                <a:spcPts val="300"/>
              </a:spcBef>
              <a:buFont typeface="Arial"/>
              <a:buChar char="•"/>
            </a:pPr>
            <a:r>
              <a:rPr lang="en-US" sz="1600" dirty="0">
                <a:solidFill>
                  <a:srgbClr val="C9D1D9"/>
                </a:solidFill>
              </a:rPr>
              <a:t>Enforce code scanning and license detection in CI/CD</a:t>
            </a:r>
          </a:p>
          <a:p>
            <a:pPr marL="342900" indent="-342900">
              <a:lnSpc>
                <a:spcPts val="2600"/>
              </a:lnSpc>
              <a:spcBef>
                <a:spcPts val="300"/>
              </a:spcBef>
              <a:buFont typeface="Arial"/>
              <a:buChar char="•"/>
            </a:pPr>
            <a:r>
              <a:rPr lang="en-US" sz="1600" dirty="0">
                <a:solidFill>
                  <a:srgbClr val="C9D1D9"/>
                </a:solidFill>
              </a:rPr>
              <a:t>Establish clear AI code usage policies for your team</a:t>
            </a:r>
          </a:p>
        </p:txBody>
      </p:sp>
      <p:sp>
        <p:nvSpPr>
          <p:cNvPr id="114" name="Divider"/>
          <p:cNvSpPr/>
          <p:nvPr/>
        </p:nvSpPr>
        <p:spPr>
          <a:xfrm>
            <a:off x="6096000" y="1752600"/>
            <a:ext cx="19050" cy="4572000"/>
          </a:xfrm>
          <a:prstGeom prst="rect">
            <a:avLst/>
          </a:prstGeom>
          <a:solidFill>
            <a:srgbClr val="30363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4748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789E4-DD64-CD69-0976-011E6BE09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Key Takeaways</a:t>
            </a:r>
          </a:p>
        </p:txBody>
      </p:sp>
      <p:sp>
        <p:nvSpPr>
          <p:cNvPr id="120" name="TakeCard0"/>
          <p:cNvSpPr/>
          <p:nvPr/>
        </p:nvSpPr>
        <p:spPr>
          <a:xfrm>
            <a:off x="914400" y="1905000"/>
            <a:ext cx="10363200" cy="685800"/>
          </a:xfrm>
          <a:prstGeom prst="roundRect">
            <a:avLst>
              <a:gd name="adj" fmla="val 8000"/>
            </a:avLst>
          </a:prstGeom>
          <a:solidFill>
            <a:srgbClr val="21262D"/>
          </a:solidFill>
          <a:ln w="0">
            <a:noFill/>
          </a:ln>
        </p:spPr>
        <p:txBody>
          <a:bodyPr wrap="square" lIns="914400" tIns="91440" rIns="182880" bIns="91440" anchor="ctr"/>
          <a:lstStyle/>
          <a:p>
            <a:r>
              <a:rPr lang="en-US" sz="1600" dirty="0">
                <a:solidFill>
                  <a:srgbClr val="C9D1D9"/>
                </a:solidFill>
              </a:rPr>
              <a:t>Copilot is a productivity multiplier — not a replacement for developer expertise</a:t>
            </a:r>
          </a:p>
        </p:txBody>
      </p:sp>
      <p:sp>
        <p:nvSpPr>
          <p:cNvPr id="121" name="TakeBadge0"/>
          <p:cNvSpPr/>
          <p:nvPr/>
        </p:nvSpPr>
        <p:spPr>
          <a:xfrm>
            <a:off x="1143000" y="2019300"/>
            <a:ext cx="457200" cy="457200"/>
          </a:xfrm>
          <a:prstGeom prst="ellipse">
            <a:avLst/>
          </a:prstGeom>
          <a:solidFill>
            <a:srgbClr val="58A6FF">
              <a:alpha val="18000"/>
            </a:srgbClr>
          </a:solidFill>
          <a:ln w="0"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800" b="1" dirty="0">
                <a:solidFill>
                  <a:srgbClr val="58A6FF"/>
                </a:solidFill>
              </a:rPr>
              <a:t>01</a:t>
            </a:r>
          </a:p>
        </p:txBody>
      </p:sp>
      <p:sp>
        <p:nvSpPr>
          <p:cNvPr id="122" name="TakeCard1"/>
          <p:cNvSpPr/>
          <p:nvPr/>
        </p:nvSpPr>
        <p:spPr>
          <a:xfrm>
            <a:off x="914400" y="2794000"/>
            <a:ext cx="10363200" cy="685800"/>
          </a:xfrm>
          <a:prstGeom prst="roundRect">
            <a:avLst>
              <a:gd name="adj" fmla="val 8000"/>
            </a:avLst>
          </a:prstGeom>
          <a:solidFill>
            <a:srgbClr val="21262D"/>
          </a:solidFill>
          <a:ln w="0">
            <a:noFill/>
          </a:ln>
        </p:spPr>
        <p:txBody>
          <a:bodyPr wrap="square" lIns="914400" tIns="91440" rIns="182880" bIns="91440" anchor="ctr"/>
          <a:lstStyle/>
          <a:p>
            <a:r>
              <a:rPr lang="en-US" sz="1600" dirty="0">
                <a:solidFill>
                  <a:srgbClr val="C9D1D9"/>
                </a:solidFill>
              </a:rPr>
              <a:t>Always review, test, and understand AI-generated code before committing</a:t>
            </a:r>
          </a:p>
        </p:txBody>
      </p:sp>
      <p:sp>
        <p:nvSpPr>
          <p:cNvPr id="123" name="TakeBadge1"/>
          <p:cNvSpPr/>
          <p:nvPr/>
        </p:nvSpPr>
        <p:spPr>
          <a:xfrm>
            <a:off x="1143000" y="2908300"/>
            <a:ext cx="457200" cy="457200"/>
          </a:xfrm>
          <a:prstGeom prst="ellipse">
            <a:avLst/>
          </a:prstGeom>
          <a:solidFill>
            <a:srgbClr val="3FB950">
              <a:alpha val="18000"/>
            </a:srgbClr>
          </a:solidFill>
          <a:ln w="0"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800" b="1" dirty="0">
                <a:solidFill>
                  <a:srgbClr val="3FB950"/>
                </a:solidFill>
              </a:rPr>
              <a:t>02</a:t>
            </a:r>
          </a:p>
        </p:txBody>
      </p:sp>
      <p:sp>
        <p:nvSpPr>
          <p:cNvPr id="124" name="TakeCard2"/>
          <p:cNvSpPr/>
          <p:nvPr/>
        </p:nvSpPr>
        <p:spPr>
          <a:xfrm>
            <a:off x="914400" y="3683000"/>
            <a:ext cx="10363200" cy="685800"/>
          </a:xfrm>
          <a:prstGeom prst="roundRect">
            <a:avLst>
              <a:gd name="adj" fmla="val 8000"/>
            </a:avLst>
          </a:prstGeom>
          <a:solidFill>
            <a:srgbClr val="21262D"/>
          </a:solidFill>
          <a:ln w="0">
            <a:noFill/>
          </a:ln>
        </p:spPr>
        <p:txBody>
          <a:bodyPr wrap="square" lIns="914400" tIns="91440" rIns="182880" bIns="91440" anchor="ctr"/>
          <a:lstStyle/>
          <a:p>
            <a:r>
              <a:rPr lang="en-US" sz="1600" dirty="0">
                <a:solidFill>
                  <a:srgbClr val="C9D1D9"/>
                </a:solidFill>
              </a:rPr>
              <a:t>Use Copilot for Business with proper security policies in enterprise settings</a:t>
            </a:r>
          </a:p>
        </p:txBody>
      </p:sp>
      <p:sp>
        <p:nvSpPr>
          <p:cNvPr id="125" name="TakeBadge2"/>
          <p:cNvSpPr/>
          <p:nvPr/>
        </p:nvSpPr>
        <p:spPr>
          <a:xfrm>
            <a:off x="1143000" y="3797300"/>
            <a:ext cx="457200" cy="457200"/>
          </a:xfrm>
          <a:prstGeom prst="ellipse">
            <a:avLst/>
          </a:prstGeom>
          <a:solidFill>
            <a:srgbClr val="BC8CFF">
              <a:alpha val="18000"/>
            </a:srgbClr>
          </a:solidFill>
          <a:ln w="0"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800" b="1" dirty="0">
                <a:solidFill>
                  <a:srgbClr val="BC8CFF"/>
                </a:solidFill>
              </a:rPr>
              <a:t>03</a:t>
            </a:r>
          </a:p>
        </p:txBody>
      </p:sp>
      <p:sp>
        <p:nvSpPr>
          <p:cNvPr id="126" name="TakeCard3"/>
          <p:cNvSpPr/>
          <p:nvPr/>
        </p:nvSpPr>
        <p:spPr>
          <a:xfrm>
            <a:off x="914400" y="4572000"/>
            <a:ext cx="10363200" cy="685800"/>
          </a:xfrm>
          <a:prstGeom prst="roundRect">
            <a:avLst>
              <a:gd name="adj" fmla="val 8000"/>
            </a:avLst>
          </a:prstGeom>
          <a:solidFill>
            <a:srgbClr val="21262D"/>
          </a:solidFill>
          <a:ln w="0">
            <a:noFill/>
          </a:ln>
        </p:spPr>
        <p:txBody>
          <a:bodyPr wrap="square" lIns="914400" tIns="91440" rIns="182880" bIns="91440" anchor="ctr"/>
          <a:lstStyle/>
          <a:p>
            <a:r>
              <a:rPr lang="en-US" sz="1600" dirty="0">
                <a:solidFill>
                  <a:srgbClr val="C9D1D9"/>
                </a:solidFill>
              </a:rPr>
              <a:t>Invest in prompt engineering skills to get the best results from AI assistants</a:t>
            </a:r>
          </a:p>
        </p:txBody>
      </p:sp>
      <p:sp>
        <p:nvSpPr>
          <p:cNvPr id="127" name="TakeBadge3"/>
          <p:cNvSpPr/>
          <p:nvPr/>
        </p:nvSpPr>
        <p:spPr>
          <a:xfrm>
            <a:off x="1143000" y="4686300"/>
            <a:ext cx="457200" cy="457200"/>
          </a:xfrm>
          <a:prstGeom prst="ellipse">
            <a:avLst/>
          </a:prstGeom>
          <a:solidFill>
            <a:srgbClr val="F78166">
              <a:alpha val="18000"/>
            </a:srgbClr>
          </a:solidFill>
          <a:ln w="0"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800" b="1" dirty="0">
                <a:solidFill>
                  <a:srgbClr val="F78166"/>
                </a:solidFill>
              </a:rPr>
              <a:t>04</a:t>
            </a:r>
          </a:p>
        </p:txBody>
      </p:sp>
      <p:sp>
        <p:nvSpPr>
          <p:cNvPr id="128" name="TakeCard4"/>
          <p:cNvSpPr/>
          <p:nvPr/>
        </p:nvSpPr>
        <p:spPr>
          <a:xfrm>
            <a:off x="914400" y="5461000"/>
            <a:ext cx="10363200" cy="685800"/>
          </a:xfrm>
          <a:prstGeom prst="roundRect">
            <a:avLst>
              <a:gd name="adj" fmla="val 8000"/>
            </a:avLst>
          </a:prstGeom>
          <a:solidFill>
            <a:srgbClr val="21262D"/>
          </a:solidFill>
          <a:ln w="0">
            <a:noFill/>
          </a:ln>
        </p:spPr>
        <p:txBody>
          <a:bodyPr wrap="square" lIns="914400" tIns="91440" rIns="182880" bIns="91440" anchor="ctr"/>
          <a:lstStyle/>
          <a:p>
            <a:r>
              <a:rPr lang="en-US" sz="1600" dirty="0">
                <a:solidFill>
                  <a:srgbClr val="C9D1D9"/>
                </a:solidFill>
              </a:rPr>
              <a:t>Establish team guidelines for responsible and consistent AI-assisted development</a:t>
            </a:r>
          </a:p>
        </p:txBody>
      </p:sp>
      <p:sp>
        <p:nvSpPr>
          <p:cNvPr id="129" name="TakeBadge4"/>
          <p:cNvSpPr/>
          <p:nvPr/>
        </p:nvSpPr>
        <p:spPr>
          <a:xfrm>
            <a:off x="1143000" y="5575300"/>
            <a:ext cx="457200" cy="457200"/>
          </a:xfrm>
          <a:prstGeom prst="ellipse">
            <a:avLst/>
          </a:prstGeom>
          <a:solidFill>
            <a:srgbClr val="79C0FF">
              <a:alpha val="18000"/>
            </a:srgbClr>
          </a:solidFill>
          <a:ln w="0"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800" b="1" dirty="0">
                <a:solidFill>
                  <a:srgbClr val="79C0FF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20413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 [1775125244158]">
  <a:themeElements>
    <a:clrScheme name="CopilotDark">
      <a:dk1>
        <a:srgbClr val="E8ECF0"/>
      </a:dk1>
      <a:lt1>
        <a:srgbClr val="0D1117"/>
      </a:lt1>
      <a:dk2>
        <a:srgbClr val="A0AEC0"/>
      </a:dk2>
      <a:lt2>
        <a:srgbClr val="161B22"/>
      </a:lt2>
      <a:accent1>
        <a:srgbClr val="58A6FF"/>
      </a:accent1>
      <a:accent2>
        <a:srgbClr val="3FB950"/>
      </a:accent2>
      <a:accent3>
        <a:srgbClr val="BC8CFF"/>
      </a:accent3>
      <a:accent4>
        <a:srgbClr val="F78166"/>
      </a:accent4>
      <a:accent5>
        <a:srgbClr val="79C0FF"/>
      </a:accent5>
      <a:accent6>
        <a:srgbClr val="D2A8FF"/>
      </a:accent6>
      <a:hlink>
        <a:srgbClr val="467886"/>
      </a:hlink>
      <a:folHlink>
        <a:srgbClr val="96607D"/>
      </a:folHlink>
    </a:clrScheme>
    <a:fontScheme name="CopilotFonts">
      <a:majorFont>
        <a:latin typeface="Segoe UI Semi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48085F9-412E-BC4A-B74B-FB69E94917A2}">
  <we:reference id="wa200010001" version="1.0.0.1" store="en-US" storeType="OMEX"/>
  <we:alternateReferences>
    <we:reference id="wa200010001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703</Words>
  <Application>Microsoft Macintosh PowerPoint</Application>
  <PresentationFormat>Widescreen</PresentationFormat>
  <Paragraphs>141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Aptos Display</vt:lpstr>
      <vt:lpstr>Arial</vt:lpstr>
      <vt:lpstr>Segoe UI</vt:lpstr>
      <vt:lpstr>Segoe UI Semibold</vt:lpstr>
      <vt:lpstr>Office Theme</vt:lpstr>
      <vt:lpstr>Office Theme [1775125244158]</vt:lpstr>
      <vt:lpstr>Office Theme</vt:lpstr>
      <vt:lpstr>AI-Assisted Development
with GitHub Copilot</vt:lpstr>
      <vt:lpstr>Evolution of AI Development Tools</vt:lpstr>
      <vt:lpstr>PowerPoint Presentation</vt:lpstr>
      <vt:lpstr>Copilot Architecture</vt:lpstr>
      <vt:lpstr>IDE Integration</vt:lpstr>
      <vt:lpstr>Role in Enterprise Developer Workflows</vt:lpstr>
      <vt:lpstr>Productivity Impact</vt:lpstr>
      <vt:lpstr>PowerPoint Presentation</vt:lpstr>
      <vt:lpstr>PowerPoint Presentation</vt:lpstr>
      <vt:lpstr>Lab: Configure GitHub Copilot</vt:lpstr>
      <vt:lpstr>PowerPoint Presentation</vt:lpstr>
      <vt:lpstr>Responsible Use of AI-Generated Code</vt:lpstr>
      <vt:lpstr>Security &amp; Compliance Considerations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Sandeep Raghavendra Diddi</dc:creator>
  <cp:lastModifiedBy>Sandeep Raghavendra Diddi</cp:lastModifiedBy>
  <cp:revision>2</cp:revision>
  <dcterms:created xsi:type="dcterms:W3CDTF">2026-04-02T10:17:30Z</dcterms:created>
  <dcterms:modified xsi:type="dcterms:W3CDTF">2026-04-02T11:01:28Z</dcterms:modified>
</cp:coreProperties>
</file>